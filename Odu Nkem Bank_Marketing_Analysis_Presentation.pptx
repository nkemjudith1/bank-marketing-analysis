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82" r:id="rId4"/>
    <p:sldId id="265" r:id="rId5"/>
    <p:sldId id="264" r:id="rId6"/>
    <p:sldId id="281" r:id="rId7"/>
    <p:sldId id="266" r:id="rId8"/>
    <p:sldId id="269" r:id="rId9"/>
    <p:sldId id="270" r:id="rId10"/>
    <p:sldId id="272" r:id="rId11"/>
    <p:sldId id="312" r:id="rId12"/>
    <p:sldId id="271" r:id="rId13"/>
    <p:sldId id="275" r:id="rId14"/>
    <p:sldId id="276" r:id="rId15"/>
    <p:sldId id="279" r:id="rId16"/>
    <p:sldId id="278" r:id="rId17"/>
    <p:sldId id="280" r:id="rId18"/>
    <p:sldId id="303" r:id="rId19"/>
    <p:sldId id="296" r:id="rId20"/>
    <p:sldId id="284" r:id="rId21"/>
    <p:sldId id="287" r:id="rId22"/>
    <p:sldId id="300" r:id="rId23"/>
    <p:sldId id="285" r:id="rId24"/>
    <p:sldId id="286" r:id="rId25"/>
    <p:sldId id="288" r:id="rId26"/>
    <p:sldId id="289" r:id="rId27"/>
    <p:sldId id="293" r:id="rId28"/>
    <p:sldId id="292" r:id="rId29"/>
    <p:sldId id="291" r:id="rId30"/>
    <p:sldId id="298" r:id="rId31"/>
    <p:sldId id="301" r:id="rId32"/>
    <p:sldId id="295" r:id="rId33"/>
    <p:sldId id="294" r:id="rId34"/>
    <p:sldId id="290" r:id="rId35"/>
    <p:sldId id="304" r:id="rId36"/>
    <p:sldId id="305" r:id="rId37"/>
    <p:sldId id="306" r:id="rId38"/>
    <p:sldId id="308" r:id="rId39"/>
    <p:sldId id="309" r:id="rId40"/>
    <p:sldId id="31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769" autoAdjust="0"/>
  </p:normalViewPr>
  <p:slideViewPr>
    <p:cSldViewPr snapToGrid="0" snapToObjects="1">
      <p:cViewPr varScale="1">
        <p:scale>
          <a:sx n="86" d="100"/>
          <a:sy n="86" d="100"/>
        </p:scale>
        <p:origin x="13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9337" y="416593"/>
            <a:ext cx="7772400" cy="1470025"/>
          </a:xfrm>
        </p:spPr>
        <p:txBody>
          <a:bodyPr/>
          <a:lstStyle/>
          <a:p>
            <a:r>
              <a:rPr b="1" dirty="0">
                <a:solidFill>
                  <a:srgbClr val="002060"/>
                </a:solidFill>
              </a:rPr>
              <a:t>Bank Marketing Data Analysis &amp;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374" y="2310230"/>
            <a:ext cx="8506326" cy="223753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By</a:t>
            </a:r>
          </a:p>
          <a:p>
            <a:r>
              <a:rPr lang="en-US" b="1" dirty="0">
                <a:solidFill>
                  <a:schemeClr val="tx1"/>
                </a:solidFill>
              </a:rPr>
              <a:t>Odu Nkem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/>
              <a:t>Techrative Technology Limited</a:t>
            </a:r>
          </a:p>
          <a:p>
            <a:r>
              <a:rPr lang="en-US" b="1" dirty="0"/>
              <a:t>Instructor: </a:t>
            </a:r>
            <a:r>
              <a:rPr lang="en-US" b="1" dirty="0" err="1"/>
              <a:t>Isoughie</a:t>
            </a:r>
            <a:r>
              <a:rPr lang="en-US" b="1" dirty="0"/>
              <a:t> Mandela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6228C7-E2C6-179C-455D-4AD24FD94537}"/>
              </a:ext>
            </a:extLst>
          </p:cNvPr>
          <p:cNvSpPr txBox="1">
            <a:spLocks/>
          </p:cNvSpPr>
          <p:nvPr/>
        </p:nvSpPr>
        <p:spPr>
          <a:xfrm>
            <a:off x="509337" y="6131244"/>
            <a:ext cx="7772400" cy="791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July, 2026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D8E7E-EE83-52FB-4A02-0D74D763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3110"/>
            <a:ext cx="8229600" cy="533891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Problem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Aim and Objectives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Descriptive Analysis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Results and Discussion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Ethical Guidelines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r>
              <a:rPr lang="en-US" sz="4300" dirty="0">
                <a:solidFill>
                  <a:srgbClr val="0070C0"/>
                </a:solidFill>
              </a:rPr>
              <a:t>Conclusion and Recommendation</a:t>
            </a:r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7215BA5C-9FDB-CC9E-E6AD-A412C2521497}"/>
              </a:ext>
            </a:extLst>
          </p:cNvPr>
          <p:cNvSpPr/>
          <p:nvPr/>
        </p:nvSpPr>
        <p:spPr>
          <a:xfrm>
            <a:off x="457200" y="235976"/>
            <a:ext cx="8229600" cy="766916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59234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0B04-3DE0-DF22-E81C-8EF390AE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43C37E48-8CDB-369C-D1FB-99EFCF5141A6}"/>
              </a:ext>
            </a:extLst>
          </p:cNvPr>
          <p:cNvSpPr/>
          <p:nvPr/>
        </p:nvSpPr>
        <p:spPr>
          <a:xfrm>
            <a:off x="932155" y="112409"/>
            <a:ext cx="6906828" cy="766916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81183-5B0C-8A56-6FBD-5F23DE88A10A}"/>
              </a:ext>
            </a:extLst>
          </p:cNvPr>
          <p:cNvSpPr txBox="1"/>
          <p:nvPr/>
        </p:nvSpPr>
        <p:spPr>
          <a:xfrm>
            <a:off x="102334" y="1253749"/>
            <a:ext cx="885979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Bank campaign data analysis involves examining customer demographics and previous interactions to identify clients who are most likely to respond positively to marketing efforts.</a:t>
            </a:r>
          </a:p>
          <a:p>
            <a:pPr algn="just"/>
            <a:endParaRPr lang="en-US" sz="21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To enable a shift from intuition-driven to evidence-based decision-making, banking institutions must analyze customer behavior toward their products and services using effective marketing strategies. This forms the basis of this study.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1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In this project, particular attention is given to the marketing campaigns of a Portuguese banking institution, which relied on phone calls to predict client subscription to a term deposit captured by the target variable </a:t>
            </a:r>
            <a:r>
              <a:rPr lang="en-US" sz="2100" i="1" dirty="0"/>
              <a:t>‘</a:t>
            </a:r>
            <a:r>
              <a:rPr lang="en-US" sz="2100" i="1" dirty="0">
                <a:solidFill>
                  <a:srgbClr val="0070C0"/>
                </a:solidFill>
              </a:rPr>
              <a:t>y’</a:t>
            </a:r>
            <a:r>
              <a:rPr lang="en-US" sz="2100" dirty="0"/>
              <a:t>, indicating either </a:t>
            </a:r>
            <a:r>
              <a:rPr lang="en-US" sz="2100" i="1" dirty="0"/>
              <a:t>‘yes’</a:t>
            </a:r>
            <a:r>
              <a:rPr lang="en-US" sz="2100" dirty="0"/>
              <a:t> or </a:t>
            </a:r>
            <a:r>
              <a:rPr lang="en-US" sz="2100" i="1" dirty="0"/>
              <a:t>‘no’</a:t>
            </a:r>
            <a:r>
              <a:rPr lang="en-US" sz="21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1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4004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9B10-762A-2BF1-07FC-AA1A145D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57996672-F074-4F15-5CF3-E2562117158B}"/>
              </a:ext>
            </a:extLst>
          </p:cNvPr>
          <p:cNvSpPr/>
          <p:nvPr/>
        </p:nvSpPr>
        <p:spPr>
          <a:xfrm>
            <a:off x="674176" y="248066"/>
            <a:ext cx="7191213" cy="766916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65404-5A28-91BA-9D2F-6B92A5DF27D7}"/>
              </a:ext>
            </a:extLst>
          </p:cNvPr>
          <p:cNvSpPr txBox="1"/>
          <p:nvPr/>
        </p:nvSpPr>
        <p:spPr>
          <a:xfrm>
            <a:off x="74141" y="1433515"/>
            <a:ext cx="885979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  </a:t>
            </a:r>
            <a:r>
              <a:rPr lang="en-US" sz="2100" dirty="0"/>
              <a:t>Despite large outreach efforts, low subscription rates remain a challenge. The bank lacks efficient targeting strategies to improve campaign effectiveness.</a:t>
            </a:r>
          </a:p>
          <a:p>
            <a:pPr algn="just"/>
            <a:endParaRPr lang="en-US" sz="21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Therefore, the Portuguese bank dataset needs analytics. </a:t>
            </a:r>
          </a:p>
          <a:p>
            <a:pPr algn="just"/>
            <a:endParaRPr lang="en-US" sz="2100" dirty="0"/>
          </a:p>
          <a:p>
            <a:pPr algn="just"/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6449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1B0E-D9F3-B461-2F34-950A87D2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BD39-5196-1611-8BC4-68C59E7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2" y="1213368"/>
            <a:ext cx="8775291" cy="533891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100" dirty="0"/>
              <a:t>The main aim is to improve subscription rates and the objectives are:</a:t>
            </a:r>
          </a:p>
          <a:p>
            <a:pPr marL="0" indent="0" algn="just">
              <a:buNone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Analyze client behavior in term deposit marketing campaigns</a:t>
            </a:r>
          </a:p>
          <a:p>
            <a:pPr marL="0" indent="0" algn="just">
              <a:buNone/>
            </a:pPr>
            <a:endParaRPr lang="en-US" sz="2100" dirty="0">
              <a:solidFill>
                <a:srgbClr val="FF0000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Identify patterns and build predictive models</a:t>
            </a:r>
          </a:p>
          <a:p>
            <a:pPr marL="0" indent="0" algn="just">
              <a:buNone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Provide segmentation and contact strategy insights</a:t>
            </a:r>
          </a:p>
          <a:p>
            <a:pPr marL="0" indent="0" algn="just">
              <a:buNone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Explore temporal trends in marketing campaign success </a:t>
            </a:r>
          </a:p>
          <a:p>
            <a:pPr marL="0" indent="0" algn="just">
              <a:buNone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Create customer profiles </a:t>
            </a:r>
          </a:p>
          <a:p>
            <a:pPr marL="0" indent="0" algn="just">
              <a:buNone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Improve marketing strategy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  <a:p>
            <a:pPr algn="just"/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endParaRPr lang="en-US" sz="2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 </a:t>
            </a: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28360088-89E7-41AC-14AB-9069209FB6B8}"/>
              </a:ext>
            </a:extLst>
          </p:cNvPr>
          <p:cNvSpPr/>
          <p:nvPr/>
        </p:nvSpPr>
        <p:spPr>
          <a:xfrm>
            <a:off x="1051134" y="208481"/>
            <a:ext cx="6997485" cy="766916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AIM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86878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7FAB-0E88-DEDF-1290-514F4292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B5A36F4E-EBE1-CB43-B062-7A0D8BE45D7B}"/>
              </a:ext>
            </a:extLst>
          </p:cNvPr>
          <p:cNvSpPr/>
          <p:nvPr/>
        </p:nvSpPr>
        <p:spPr>
          <a:xfrm>
            <a:off x="1137285" y="59383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METHODOLOGY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D395B35-DEB7-4689-08A9-442AFD82C01A}"/>
              </a:ext>
            </a:extLst>
          </p:cNvPr>
          <p:cNvGrpSpPr/>
          <p:nvPr/>
        </p:nvGrpSpPr>
        <p:grpSpPr>
          <a:xfrm>
            <a:off x="1062663" y="247227"/>
            <a:ext cx="7018674" cy="6531022"/>
            <a:chOff x="0" y="0"/>
            <a:chExt cx="7118496" cy="7620416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2010C83F-175E-59D1-266F-DD2E84BAF00B}"/>
                </a:ext>
              </a:extLst>
            </p:cNvPr>
            <p:cNvGrpSpPr/>
            <p:nvPr/>
          </p:nvGrpSpPr>
          <p:grpSpPr>
            <a:xfrm>
              <a:off x="0" y="0"/>
              <a:ext cx="7118496" cy="7620416"/>
              <a:chOff x="0" y="0"/>
              <a:chExt cx="7118496" cy="7620416"/>
            </a:xfrm>
          </p:grpSpPr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B67E2B8C-3577-4BFC-EA63-248E6C257612}"/>
                  </a:ext>
                </a:extLst>
              </p:cNvPr>
              <p:cNvGrpSpPr/>
              <p:nvPr/>
            </p:nvGrpSpPr>
            <p:grpSpPr>
              <a:xfrm>
                <a:off x="0" y="0"/>
                <a:ext cx="7118496" cy="7620416"/>
                <a:chOff x="0" y="254977"/>
                <a:chExt cx="7118496" cy="7620820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34DB0D19-8089-7707-DC2B-D2C2C28FE283}"/>
                    </a:ext>
                  </a:extLst>
                </p:cNvPr>
                <p:cNvCxnSpPr/>
                <p:nvPr/>
              </p:nvCxnSpPr>
              <p:spPr>
                <a:xfrm>
                  <a:off x="3459892" y="6598508"/>
                  <a:ext cx="0" cy="20783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72C4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0D93F3DA-EB5E-3830-10D9-865ED964E5D3}"/>
                    </a:ext>
                  </a:extLst>
                </p:cNvPr>
                <p:cNvGrpSpPr/>
                <p:nvPr/>
              </p:nvGrpSpPr>
              <p:grpSpPr>
                <a:xfrm>
                  <a:off x="0" y="254977"/>
                  <a:ext cx="7118496" cy="7620820"/>
                  <a:chOff x="0" y="254977"/>
                  <a:chExt cx="7118496" cy="7620820"/>
                </a:xfrm>
              </p:grpSpPr>
              <p:grpSp>
                <p:nvGrpSpPr>
                  <p:cNvPr id="175" name="Group 174">
                    <a:extLst>
                      <a:ext uri="{FF2B5EF4-FFF2-40B4-BE49-F238E27FC236}">
                        <a16:creationId xmlns:a16="http://schemas.microsoft.com/office/drawing/2014/main" id="{C09B7D92-CF78-4B06-2310-7287BCAC4D74}"/>
                      </a:ext>
                    </a:extLst>
                  </p:cNvPr>
                  <p:cNvGrpSpPr/>
                  <p:nvPr/>
                </p:nvGrpSpPr>
                <p:grpSpPr>
                  <a:xfrm>
                    <a:off x="230660" y="3599935"/>
                    <a:ext cx="198262" cy="1804379"/>
                    <a:chOff x="0" y="0"/>
                    <a:chExt cx="198262" cy="1804379"/>
                  </a:xfrm>
                </p:grpSpPr>
                <p:cxnSp>
                  <p:nvCxnSpPr>
                    <p:cNvPr id="235" name="Straight Connector 234">
                      <a:extLst>
                        <a:ext uri="{FF2B5EF4-FFF2-40B4-BE49-F238E27FC236}">
                          <a16:creationId xmlns:a16="http://schemas.microsoft.com/office/drawing/2014/main" id="{DB7C3F96-41D6-22BD-36E0-6A24ED1E9B5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" y="0"/>
                      <a:ext cx="0" cy="1802181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4472C4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36" name="Straight Connector 235">
                      <a:extLst>
                        <a:ext uri="{FF2B5EF4-FFF2-40B4-BE49-F238E27FC236}">
                          <a16:creationId xmlns:a16="http://schemas.microsoft.com/office/drawing/2014/main" id="{B8725186-066E-DB6B-126E-7A2E688CB15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0" y="1802423"/>
                      <a:ext cx="189470" cy="1956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4472C4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37" name="Straight Connector 236">
                      <a:extLst>
                        <a:ext uri="{FF2B5EF4-FFF2-40B4-BE49-F238E27FC236}">
                          <a16:creationId xmlns:a16="http://schemas.microsoft.com/office/drawing/2014/main" id="{67782FEA-7916-2A6E-672B-1E1306E70F7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" y="1248507"/>
                      <a:ext cx="189470" cy="1956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4472C4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38" name="Straight Connector 237">
                      <a:extLst>
                        <a:ext uri="{FF2B5EF4-FFF2-40B4-BE49-F238E27FC236}">
                          <a16:creationId xmlns:a16="http://schemas.microsoft.com/office/drawing/2014/main" id="{1241947B-5B8B-1411-B0EA-78084CA362C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" y="791307"/>
                      <a:ext cx="189230" cy="1905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4472C4"/>
                      </a:solidFill>
                      <a:prstDash val="solid"/>
                      <a:miter lim="800000"/>
                    </a:ln>
                    <a:effectLst/>
                  </p:spPr>
                </p:cxnSp>
                <p:cxnSp>
                  <p:nvCxnSpPr>
                    <p:cNvPr id="239" name="Straight Connector 238">
                      <a:extLst>
                        <a:ext uri="{FF2B5EF4-FFF2-40B4-BE49-F238E27FC236}">
                          <a16:creationId xmlns:a16="http://schemas.microsoft.com/office/drawing/2014/main" id="{BC90C942-B27D-CF39-0AE6-371C34A5FAC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792" y="325315"/>
                      <a:ext cx="189230" cy="1905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4472C4"/>
                      </a:solidFill>
                      <a:prstDash val="solid"/>
                      <a:miter lim="800000"/>
                    </a:ln>
                    <a:effectLst/>
                  </p:spPr>
                </p:cxnSp>
              </p:grpSp>
              <p:grpSp>
                <p:nvGrpSpPr>
                  <p:cNvPr id="176" name="Group 175">
                    <a:extLst>
                      <a:ext uri="{FF2B5EF4-FFF2-40B4-BE49-F238E27FC236}">
                        <a16:creationId xmlns:a16="http://schemas.microsoft.com/office/drawing/2014/main" id="{B169338E-70FC-419E-8685-2084B8D2D58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54977"/>
                    <a:ext cx="7118496" cy="7620820"/>
                    <a:chOff x="0" y="254977"/>
                    <a:chExt cx="7118496" cy="7620820"/>
                  </a:xfrm>
                </p:grpSpPr>
                <p:grpSp>
                  <p:nvGrpSpPr>
                    <p:cNvPr id="177" name="Group 176">
                      <a:extLst>
                        <a:ext uri="{FF2B5EF4-FFF2-40B4-BE49-F238E27FC236}">
                          <a16:creationId xmlns:a16="http://schemas.microsoft.com/office/drawing/2014/main" id="{4A778AD4-BF93-943C-3FD8-6FBBCCA39D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54977"/>
                      <a:ext cx="7118496" cy="5642680"/>
                      <a:chOff x="0" y="254977"/>
                      <a:chExt cx="7118496" cy="5642680"/>
                    </a:xfrm>
                  </p:grpSpPr>
                  <p:sp>
                    <p:nvSpPr>
                      <p:cNvPr id="185" name="Rectangle: Rounded Corners 184">
                        <a:extLst>
                          <a:ext uri="{FF2B5EF4-FFF2-40B4-BE49-F238E27FC236}">
                            <a16:creationId xmlns:a16="http://schemas.microsoft.com/office/drawing/2014/main" id="{EA21FA61-FECC-3443-0B48-AE632BDB55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90446" y="2989384"/>
                        <a:ext cx="1362710" cy="611505"/>
                      </a:xfrm>
                      <a:prstGeom prst="roundRect">
                        <a:avLst/>
                      </a:prstGeom>
                      <a:solidFill>
                        <a:srgbClr val="00B0F0"/>
                      </a:solidFill>
                      <a:ln w="12700" cap="flat" cmpd="sng" algn="ctr">
                        <a:solidFill>
                          <a:srgbClr val="00B0F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15000"/>
                          </a:lnSpc>
                          <a:spcAft>
                            <a:spcPts val="800"/>
                          </a:spcAft>
                          <a:buNone/>
                        </a:pPr>
                        <a:r>
                          <a:rPr lang="en-US" sz="1200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Exploratory Data Analysis</a:t>
                        </a:r>
                        <a:endPara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186" name="Group 185">
                        <a:extLst>
                          <a:ext uri="{FF2B5EF4-FFF2-40B4-BE49-F238E27FC236}">
                            <a16:creationId xmlns:a16="http://schemas.microsoft.com/office/drawing/2014/main" id="{4BFE1504-5F3A-6615-02BF-7F85DC89B7C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2998177"/>
                        <a:ext cx="1717859" cy="2614295"/>
                        <a:chOff x="0" y="0"/>
                        <a:chExt cx="1717859" cy="2614295"/>
                      </a:xfrm>
                    </p:grpSpPr>
                    <p:sp>
                      <p:nvSpPr>
                        <p:cNvPr id="230" name="Rectangle: Rounded Corners 229">
                          <a:extLst>
                            <a:ext uri="{FF2B5EF4-FFF2-40B4-BE49-F238E27FC236}">
                              <a16:creationId xmlns:a16="http://schemas.microsoft.com/office/drawing/2014/main" id="{C1E49CC2-A35B-E877-1189-0B0FF3AF0D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1362710" cy="611505"/>
                        </a:xfrm>
                        <a:prstGeom prst="roundRect">
                          <a:avLst/>
                        </a:prstGeom>
                        <a:solidFill>
                          <a:srgbClr val="C00000"/>
                        </a:solidFill>
                        <a:ln w="12700" cap="flat" cmpd="sng" algn="ctr">
                          <a:solidFill>
                            <a:sysClr val="window" lastClr="FFFFFF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kern="100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Data Preprocessing</a:t>
                          </a:r>
                        </a:p>
                      </p:txBody>
                    </p:sp>
                    <p:sp>
                      <p:nvSpPr>
                        <p:cNvPr id="231" name="Rectangle 230">
                          <a:extLst>
                            <a:ext uri="{FF2B5EF4-FFF2-40B4-BE49-F238E27FC236}">
                              <a16:creationId xmlns:a16="http://schemas.microsoft.com/office/drawing/2014/main" id="{623C2B6A-5DA6-6C48-4BA9-F9000FFA9F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13238" y="694592"/>
                          <a:ext cx="1304290" cy="442595"/>
                        </a:xfrm>
                        <a:prstGeom prst="rect">
                          <a:avLst/>
                        </a:prstGeom>
                        <a:solidFill>
                          <a:srgbClr val="ED7D31"/>
                        </a:solidFill>
                        <a:ln w="12700" cap="flat" cmpd="sng" algn="ctr">
                          <a:solidFill>
                            <a:srgbClr val="5B9BD5">
                              <a:lumMod val="60000"/>
                              <a:lumOff val="40000"/>
                            </a:srgbClr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000" kern="100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Inspection &amp; Cleaning</a:t>
                          </a:r>
                          <a:endParaRPr lang="en-US" sz="1200" kern="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2" name="Rectangle 231">
                          <a:extLst>
                            <a:ext uri="{FF2B5EF4-FFF2-40B4-BE49-F238E27FC236}">
                              <a16:creationId xmlns:a16="http://schemas.microsoft.com/office/drawing/2014/main" id="{3C2F542A-581F-B9BF-254F-FA1682D00F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13238" y="1186961"/>
                          <a:ext cx="1304290" cy="442595"/>
                        </a:xfrm>
                        <a:prstGeom prst="rect">
                          <a:avLst/>
                        </a:prstGeom>
                        <a:solidFill>
                          <a:srgbClr val="ED7D31"/>
                        </a:solidFill>
                        <a:ln w="12700" cap="flat" cmpd="sng" algn="ctr">
                          <a:solidFill>
                            <a:srgbClr val="5B9BD5">
                              <a:lumMod val="60000"/>
                              <a:lumOff val="40000"/>
                            </a:srgbClr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Handle “unknown” Features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3" name="Rectangle 232">
                          <a:extLst>
                            <a:ext uri="{FF2B5EF4-FFF2-40B4-BE49-F238E27FC236}">
                              <a16:creationId xmlns:a16="http://schemas.microsoft.com/office/drawing/2014/main" id="{1DC2BB26-C164-2195-B335-0E10FE5321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13238" y="1679330"/>
                          <a:ext cx="1304621" cy="442640"/>
                        </a:xfrm>
                        <a:prstGeom prst="rect">
                          <a:avLst/>
                        </a:prstGeom>
                        <a:solidFill>
                          <a:srgbClr val="ED7D31"/>
                        </a:solidFill>
                        <a:ln w="12700" cap="flat" cmpd="sng" algn="ctr">
                          <a:solidFill>
                            <a:srgbClr val="5B9BD5">
                              <a:lumMod val="60000"/>
                              <a:lumOff val="40000"/>
                            </a:srgbClr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Encoding (one-Hot)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4" name="Rectangle 233">
                          <a:extLst>
                            <a:ext uri="{FF2B5EF4-FFF2-40B4-BE49-F238E27FC236}">
                              <a16:creationId xmlns:a16="http://schemas.microsoft.com/office/drawing/2014/main" id="{99BB997A-2CC1-B7DF-F48F-E3C51BEE22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13238" y="2171700"/>
                          <a:ext cx="1304290" cy="442595"/>
                        </a:xfrm>
                        <a:prstGeom prst="rect">
                          <a:avLst/>
                        </a:prstGeom>
                        <a:solidFill>
                          <a:srgbClr val="ED7D31"/>
                        </a:solidFill>
                        <a:ln w="12700" cap="flat" cmpd="sng" algn="ctr">
                          <a:solidFill>
                            <a:srgbClr val="5B9BD5">
                              <a:lumMod val="60000"/>
                              <a:lumOff val="40000"/>
                            </a:srgbClr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solidFill>
                                <a:srgbClr val="FFFFFF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SMOTE for Imbalance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grpSp>
                    <p:nvGrpSpPr>
                      <p:cNvPr id="187" name="Group 186">
                        <a:extLst>
                          <a:ext uri="{FF2B5EF4-FFF2-40B4-BE49-F238E27FC236}">
                            <a16:creationId xmlns:a16="http://schemas.microsoft.com/office/drawing/2014/main" id="{32A87074-175F-1068-77E6-ABEF464DA1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165230" y="3745523"/>
                        <a:ext cx="1536930" cy="1943962"/>
                        <a:chOff x="0" y="0"/>
                        <a:chExt cx="1536930" cy="1943962"/>
                      </a:xfrm>
                    </p:grpSpPr>
                    <p:sp>
                      <p:nvSpPr>
                        <p:cNvPr id="224" name="Rectangle 223">
                          <a:extLst>
                            <a:ext uri="{FF2B5EF4-FFF2-40B4-BE49-F238E27FC236}">
                              <a16:creationId xmlns:a16="http://schemas.microsoft.com/office/drawing/2014/main" id="{8F75C4F5-6F25-409E-9E01-FD749EF0CF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1510030" cy="273050"/>
                        </a:xfrm>
                        <a:prstGeom prst="rect">
                          <a:avLst/>
                        </a:prstGeom>
                        <a:solidFill>
                          <a:srgbClr val="5B9BD5">
                            <a:lumMod val="40000"/>
                            <a:lumOff val="60000"/>
                          </a:srgbClr>
                        </a:solidFill>
                        <a:ln w="12700" cap="flat" cmpd="sng" algn="ctr">
                          <a:solidFill>
                            <a:srgbClr val="00B0F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Descriptive Statistics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25" name="Rectangle 224">
                          <a:extLst>
                            <a:ext uri="{FF2B5EF4-FFF2-40B4-BE49-F238E27FC236}">
                              <a16:creationId xmlns:a16="http://schemas.microsoft.com/office/drawing/2014/main" id="{B37B1EFE-9405-CF83-7E7D-8F7D475CE0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93" y="334107"/>
                          <a:ext cx="1510553" cy="273424"/>
                        </a:xfrm>
                        <a:prstGeom prst="rect">
                          <a:avLst/>
                        </a:prstGeom>
                        <a:solidFill>
                          <a:srgbClr val="5B9BD5">
                            <a:lumMod val="40000"/>
                            <a:lumOff val="60000"/>
                          </a:srgbClr>
                        </a:solidFill>
                        <a:ln w="12700" cap="flat" cmpd="sng" algn="ctr">
                          <a:solidFill>
                            <a:srgbClr val="00B0F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Segmentation Analysis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26" name="Rectangle 225">
                          <a:extLst>
                            <a:ext uri="{FF2B5EF4-FFF2-40B4-BE49-F238E27FC236}">
                              <a16:creationId xmlns:a16="http://schemas.microsoft.com/office/drawing/2014/main" id="{CE37A3AE-EB73-898F-31ED-CC782D09EE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93" y="668215"/>
                          <a:ext cx="1510030" cy="273050"/>
                        </a:xfrm>
                        <a:prstGeom prst="rect">
                          <a:avLst/>
                        </a:prstGeom>
                        <a:solidFill>
                          <a:srgbClr val="5B9BD5">
                            <a:lumMod val="40000"/>
                            <a:lumOff val="60000"/>
                          </a:srgbClr>
                        </a:solidFill>
                        <a:ln w="12700" cap="flat" cmpd="sng" algn="ctr">
                          <a:solidFill>
                            <a:srgbClr val="00B0F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Temporal Analysis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27" name="Rectangle 226">
                          <a:extLst>
                            <a:ext uri="{FF2B5EF4-FFF2-40B4-BE49-F238E27FC236}">
                              <a16:creationId xmlns:a16="http://schemas.microsoft.com/office/drawing/2014/main" id="{00C524DE-DD98-D886-F9BD-5AF3CE160C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93" y="1002323"/>
                          <a:ext cx="1510030" cy="273050"/>
                        </a:xfrm>
                        <a:prstGeom prst="rect">
                          <a:avLst/>
                        </a:prstGeom>
                        <a:solidFill>
                          <a:srgbClr val="5B9BD5">
                            <a:lumMod val="40000"/>
                            <a:lumOff val="60000"/>
                          </a:srgbClr>
                        </a:solidFill>
                        <a:ln w="12700" cap="flat" cmpd="sng" algn="ctr">
                          <a:solidFill>
                            <a:srgbClr val="00B0F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Customer Profiling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28" name="Rectangle 227">
                          <a:extLst>
                            <a:ext uri="{FF2B5EF4-FFF2-40B4-BE49-F238E27FC236}">
                              <a16:creationId xmlns:a16="http://schemas.microsoft.com/office/drawing/2014/main" id="{64C0C690-1060-8629-AC1C-B26F0A8AA7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377" y="1670538"/>
                          <a:ext cx="1510553" cy="273424"/>
                        </a:xfrm>
                        <a:prstGeom prst="rect">
                          <a:avLst/>
                        </a:prstGeom>
                        <a:solidFill>
                          <a:srgbClr val="5B9BD5">
                            <a:lumMod val="40000"/>
                            <a:lumOff val="60000"/>
                          </a:srgbClr>
                        </a:solidFill>
                        <a:ln w="12700" cap="flat" cmpd="sng" algn="ctr">
                          <a:solidFill>
                            <a:srgbClr val="00B0F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Visualizations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29" name="Rectangle 228">
                          <a:extLst>
                            <a:ext uri="{FF2B5EF4-FFF2-40B4-BE49-F238E27FC236}">
                              <a16:creationId xmlns:a16="http://schemas.microsoft.com/office/drawing/2014/main" id="{97F95C61-6EAD-9B20-3725-5023044255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6377" y="1336430"/>
                          <a:ext cx="1510030" cy="273050"/>
                        </a:xfrm>
                        <a:prstGeom prst="rect">
                          <a:avLst/>
                        </a:prstGeom>
                        <a:solidFill>
                          <a:srgbClr val="5B9BD5">
                            <a:lumMod val="40000"/>
                            <a:lumOff val="60000"/>
                          </a:srgbClr>
                        </a:solidFill>
                        <a:ln w="12700" cap="flat" cmpd="sng" algn="ctr">
                          <a:solidFill>
                            <a:srgbClr val="00B0F0"/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1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Contact Strategy </a:t>
                          </a:r>
                          <a:endParaRPr lang="en-US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grpSp>
                    <p:nvGrpSpPr>
                      <p:cNvPr id="188" name="Group 187">
                        <a:extLst>
                          <a:ext uri="{FF2B5EF4-FFF2-40B4-BE49-F238E27FC236}">
                            <a16:creationId xmlns:a16="http://schemas.microsoft.com/office/drawing/2014/main" id="{4576B6F9-A8EF-A5E6-DCC7-7001A7B73E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71800" y="3596053"/>
                        <a:ext cx="215606" cy="1988967"/>
                        <a:chOff x="0" y="0"/>
                        <a:chExt cx="215606" cy="1988967"/>
                      </a:xfrm>
                    </p:grpSpPr>
                    <p:cxnSp>
                      <p:nvCxnSpPr>
                        <p:cNvPr id="217" name="Straight Connector 216">
                          <a:extLst>
                            <a:ext uri="{FF2B5EF4-FFF2-40B4-BE49-F238E27FC236}">
                              <a16:creationId xmlns:a16="http://schemas.microsoft.com/office/drawing/2014/main" id="{36AE8BAA-5969-C40F-96AF-45F5AB37DE30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0" y="0"/>
                          <a:ext cx="22917" cy="198587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18" name="Straight Connector 217">
                          <a:extLst>
                            <a:ext uri="{FF2B5EF4-FFF2-40B4-BE49-F238E27FC236}">
                              <a16:creationId xmlns:a16="http://schemas.microsoft.com/office/drawing/2014/main" id="{293489EF-C631-ED72-CFB0-9ECBBD016D24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0" y="290147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19" name="Straight Connector 218">
                          <a:extLst>
                            <a:ext uri="{FF2B5EF4-FFF2-40B4-BE49-F238E27FC236}">
                              <a16:creationId xmlns:a16="http://schemas.microsoft.com/office/drawing/2014/main" id="{5FC20AC7-8BF5-A08B-CC50-B4C8D1D7FCA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6376" y="1987062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20" name="Straight Connector 219">
                          <a:extLst>
                            <a:ext uri="{FF2B5EF4-FFF2-40B4-BE49-F238E27FC236}">
                              <a16:creationId xmlns:a16="http://schemas.microsoft.com/office/drawing/2014/main" id="{32043D5A-700D-2E7C-A67B-7A49CACA5448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0" y="615462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21" name="Straight Connector 220">
                          <a:extLst>
                            <a:ext uri="{FF2B5EF4-FFF2-40B4-BE49-F238E27FC236}">
                              <a16:creationId xmlns:a16="http://schemas.microsoft.com/office/drawing/2014/main" id="{5D5C1EAB-A3B8-159E-C5CA-DEAA190D8810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8792" y="949570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22" name="Straight Connector 221">
                          <a:extLst>
                            <a:ext uri="{FF2B5EF4-FFF2-40B4-BE49-F238E27FC236}">
                              <a16:creationId xmlns:a16="http://schemas.microsoft.com/office/drawing/2014/main" id="{F7CBD517-D3FA-AE14-4B64-EC12C2D14373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8792" y="1292470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23" name="Straight Connector 222">
                          <a:extLst>
                            <a:ext uri="{FF2B5EF4-FFF2-40B4-BE49-F238E27FC236}">
                              <a16:creationId xmlns:a16="http://schemas.microsoft.com/office/drawing/2014/main" id="{CD48FAB8-3A1E-CB7B-53BD-D7B426EDF123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6376" y="1617785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</p:grpSp>
                  <p:grpSp>
                    <p:nvGrpSpPr>
                      <p:cNvPr id="189" name="Group 188">
                        <a:extLst>
                          <a:ext uri="{FF2B5EF4-FFF2-40B4-BE49-F238E27FC236}">
                            <a16:creationId xmlns:a16="http://schemas.microsoft.com/office/drawing/2014/main" id="{EC9DC06A-639D-1F81-DDCA-C7B024C2516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36930" y="2971800"/>
                        <a:ext cx="1781566" cy="2419794"/>
                        <a:chOff x="0" y="0"/>
                        <a:chExt cx="1781566" cy="2419794"/>
                      </a:xfrm>
                    </p:grpSpPr>
                    <p:grpSp>
                      <p:nvGrpSpPr>
                        <p:cNvPr id="204" name="Group 203">
                          <a:extLst>
                            <a:ext uri="{FF2B5EF4-FFF2-40B4-BE49-F238E27FC236}">
                              <a16:creationId xmlns:a16="http://schemas.microsoft.com/office/drawing/2014/main" id="{9690B6C8-863A-470D-4BD1-CC36F9C436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0"/>
                          <a:ext cx="1781566" cy="2419794"/>
                          <a:chOff x="0" y="0"/>
                          <a:chExt cx="1781566" cy="2419794"/>
                        </a:xfrm>
                      </p:grpSpPr>
                      <p:sp>
                        <p:nvSpPr>
                          <p:cNvPr id="211" name="Rectangle: Rounded Corners 210">
                            <a:extLst>
                              <a:ext uri="{FF2B5EF4-FFF2-40B4-BE49-F238E27FC236}">
                                <a16:creationId xmlns:a16="http://schemas.microsoft.com/office/drawing/2014/main" id="{3F3286EE-B3FB-7164-8051-466D9FC5EB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0" y="0"/>
                            <a:ext cx="1362710" cy="611505"/>
                          </a:xfrm>
                          <a:prstGeom prst="roundRect">
                            <a:avLst/>
                          </a:prstGeom>
                          <a:solidFill>
                            <a:srgbClr val="7030A0"/>
                          </a:solidFill>
                          <a:ln w="12700" cap="flat" cmpd="sng" algn="ctr">
                            <a:solidFill>
                              <a:sysClr val="window" lastClr="FFFFFF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15000"/>
                              </a:lnSpc>
                              <a:spcAft>
                                <a:spcPts val="800"/>
                              </a:spcAft>
                              <a:buNone/>
                            </a:pPr>
                            <a:r>
                              <a:rPr lang="en-US" sz="1200" kern="100">
                                <a:solidFill>
                                  <a:srgbClr val="FFFFFF"/>
                                </a:solidFill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Modeling</a:t>
                            </a:r>
                            <a:endParaRPr lang="en-US" sz="12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12" name="Rectangle 211">
                            <a:extLst>
                              <a:ext uri="{FF2B5EF4-FFF2-40B4-BE49-F238E27FC236}">
                                <a16:creationId xmlns:a16="http://schemas.microsoft.com/office/drawing/2014/main" id="{690BC3C0-FD07-435E-8718-92F7BFF98D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3239" y="729761"/>
                            <a:ext cx="1268505" cy="277906"/>
                          </a:xfrm>
                          <a:prstGeom prst="rect">
                            <a:avLst/>
                          </a:prstGeom>
                          <a:solidFill>
                            <a:srgbClr val="CC66FF">
                              <a:alpha val="80000"/>
                            </a:srgbClr>
                          </a:solidFill>
                          <a:ln w="12700" cap="flat" cmpd="sng" algn="ctr">
                            <a:solidFill>
                              <a:srgbClr val="A5A5A5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>
                              <a:lnSpc>
                                <a:spcPct val="115000"/>
                              </a:lnSpc>
                              <a:spcAft>
                                <a:spcPts val="800"/>
                              </a:spcAft>
                              <a:buNone/>
                            </a:pPr>
                            <a:r>
                              <a:rPr lang="en-US" sz="1100" kern="100">
                                <a:solidFill>
                                  <a:srgbClr val="FFFFFF"/>
                                </a:solidFill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Logistic Regression</a:t>
                            </a:r>
                            <a:endParaRPr lang="en-US" sz="12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13" name="Rectangle 212">
                            <a:extLst>
                              <a:ext uri="{FF2B5EF4-FFF2-40B4-BE49-F238E27FC236}">
                                <a16:creationId xmlns:a16="http://schemas.microsoft.com/office/drawing/2014/main" id="{417FB0E0-2098-C6FA-3852-B12A365153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3239" y="1046284"/>
                            <a:ext cx="1268095" cy="277495"/>
                          </a:xfrm>
                          <a:prstGeom prst="rect">
                            <a:avLst/>
                          </a:prstGeom>
                          <a:solidFill>
                            <a:srgbClr val="CC66FF">
                              <a:alpha val="80000"/>
                            </a:srgbClr>
                          </a:solidFill>
                          <a:ln w="12700" cap="flat" cmpd="sng" algn="ctr">
                            <a:solidFill>
                              <a:srgbClr val="A5A5A5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>
                              <a:lnSpc>
                                <a:spcPct val="115000"/>
                              </a:lnSpc>
                              <a:spcAft>
                                <a:spcPts val="800"/>
                              </a:spcAft>
                              <a:buNone/>
                            </a:pPr>
                            <a:r>
                              <a:rPr lang="en-US" sz="1100" kern="100">
                                <a:solidFill>
                                  <a:srgbClr val="FFFFFF"/>
                                </a:solidFill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Decision Tree</a:t>
                            </a:r>
                            <a:endParaRPr lang="en-US" sz="12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14" name="Rectangle 213">
                            <a:extLst>
                              <a:ext uri="{FF2B5EF4-FFF2-40B4-BE49-F238E27FC236}">
                                <a16:creationId xmlns:a16="http://schemas.microsoft.com/office/drawing/2014/main" id="{25D5CD5F-1EEB-7316-EFD4-E5497247316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04446" y="1371600"/>
                            <a:ext cx="1268095" cy="277495"/>
                          </a:xfrm>
                          <a:prstGeom prst="rect">
                            <a:avLst/>
                          </a:prstGeom>
                          <a:solidFill>
                            <a:srgbClr val="CC66FF">
                              <a:alpha val="80000"/>
                            </a:srgbClr>
                          </a:solidFill>
                          <a:ln w="12700" cap="flat" cmpd="sng" algn="ctr">
                            <a:solidFill>
                              <a:srgbClr val="A5A5A5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>
                              <a:lnSpc>
                                <a:spcPct val="115000"/>
                              </a:lnSpc>
                              <a:spcAft>
                                <a:spcPts val="800"/>
                              </a:spcAft>
                              <a:buNone/>
                            </a:pPr>
                            <a:r>
                              <a:rPr lang="en-US" sz="1100" kern="100">
                                <a:solidFill>
                                  <a:srgbClr val="FFFFFF"/>
                                </a:solidFill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Random Forest</a:t>
                            </a:r>
                            <a:endParaRPr lang="en-US" sz="12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15" name="Rectangle 214">
                            <a:extLst>
                              <a:ext uri="{FF2B5EF4-FFF2-40B4-BE49-F238E27FC236}">
                                <a16:creationId xmlns:a16="http://schemas.microsoft.com/office/drawing/2014/main" id="{1A4FB2F4-F3A2-AC46-7A78-61C4FFBFFE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3239" y="1696915"/>
                            <a:ext cx="1268095" cy="277495"/>
                          </a:xfrm>
                          <a:prstGeom prst="rect">
                            <a:avLst/>
                          </a:prstGeom>
                          <a:solidFill>
                            <a:srgbClr val="CC66FF">
                              <a:alpha val="80000"/>
                            </a:srgbClr>
                          </a:solidFill>
                          <a:ln w="12700" cap="flat" cmpd="sng" algn="ctr">
                            <a:solidFill>
                              <a:srgbClr val="A5A5A5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>
                              <a:lnSpc>
                                <a:spcPct val="115000"/>
                              </a:lnSpc>
                              <a:spcAft>
                                <a:spcPts val="800"/>
                              </a:spcAft>
                              <a:buNone/>
                            </a:pPr>
                            <a:r>
                              <a:rPr lang="en-US" sz="1100" kern="100">
                                <a:solidFill>
                                  <a:srgbClr val="FFFFFF"/>
                                </a:solidFill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XGBoost</a:t>
                            </a:r>
                            <a:endParaRPr lang="en-US" sz="12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16" name="Rectangle 215">
                            <a:extLst>
                              <a:ext uri="{FF2B5EF4-FFF2-40B4-BE49-F238E27FC236}">
                                <a16:creationId xmlns:a16="http://schemas.microsoft.com/office/drawing/2014/main" id="{0BB5AD58-7159-A6A6-CFD3-429A69B885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22031" y="2022231"/>
                            <a:ext cx="1359535" cy="397563"/>
                          </a:xfrm>
                          <a:prstGeom prst="rect">
                            <a:avLst/>
                          </a:prstGeom>
                          <a:solidFill>
                            <a:srgbClr val="CC66FF">
                              <a:alpha val="80000"/>
                            </a:srgbClr>
                          </a:solidFill>
                          <a:ln w="12700" cap="flat" cmpd="sng" algn="ctr">
                            <a:solidFill>
                              <a:srgbClr val="A5A5A5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marL="0" marR="0">
                              <a:lnSpc>
                                <a:spcPct val="115000"/>
                              </a:lnSpc>
                              <a:spcAft>
                                <a:spcPts val="800"/>
                              </a:spcAft>
                              <a:buNone/>
                            </a:pPr>
                            <a:r>
                              <a:rPr lang="en-US" sz="1100" kern="100">
                                <a:solidFill>
                                  <a:srgbClr val="FFFFFF"/>
                                </a:solidFill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80/20 Train test split</a:t>
                            </a:r>
                            <a:endParaRPr lang="en-US" sz="1200" kern="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  <p:cxnSp>
                      <p:nvCxnSpPr>
                        <p:cNvPr id="205" name="Straight Connector 204">
                          <a:extLst>
                            <a:ext uri="{FF2B5EF4-FFF2-40B4-BE49-F238E27FC236}">
                              <a16:creationId xmlns:a16="http://schemas.microsoft.com/office/drawing/2014/main" id="{9D6D2DFE-4155-C2D2-3F5E-E4EE7C0269EF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1016" y="870438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06" name="Straight Connector 205">
                          <a:extLst>
                            <a:ext uri="{FF2B5EF4-FFF2-40B4-BE49-F238E27FC236}">
                              <a16:creationId xmlns:a16="http://schemas.microsoft.com/office/drawing/2014/main" id="{B9372CBA-A52E-5D94-902E-193064279579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02223" y="606669"/>
                          <a:ext cx="6439" cy="1553809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07" name="Straight Connector 206">
                          <a:extLst>
                            <a:ext uri="{FF2B5EF4-FFF2-40B4-BE49-F238E27FC236}">
                              <a16:creationId xmlns:a16="http://schemas.microsoft.com/office/drawing/2014/main" id="{67C8D507-DA43-3A4B-BD99-DDC08B9A7C0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1016" y="1178169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08" name="Straight Connector 207">
                          <a:extLst>
                            <a:ext uri="{FF2B5EF4-FFF2-40B4-BE49-F238E27FC236}">
                              <a16:creationId xmlns:a16="http://schemas.microsoft.com/office/drawing/2014/main" id="{8E76F754-82F9-895C-3D40-596028FF0EE9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9808" y="1512277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09" name="Straight Connector 208">
                          <a:extLst>
                            <a:ext uri="{FF2B5EF4-FFF2-40B4-BE49-F238E27FC236}">
                              <a16:creationId xmlns:a16="http://schemas.microsoft.com/office/drawing/2014/main" id="{A496273A-4998-D108-90A8-3CA3554869B3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1016" y="1837592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210" name="Straight Connector 209">
                          <a:extLst>
                            <a:ext uri="{FF2B5EF4-FFF2-40B4-BE49-F238E27FC236}">
                              <a16:creationId xmlns:a16="http://schemas.microsoft.com/office/drawing/2014/main" id="{1D35EDAA-C44F-F2E5-84AF-6A6360CFD7B7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9808" y="2162907"/>
                          <a:ext cx="189230" cy="1905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4472C4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</p:grpSp>
                  <p:grpSp>
                    <p:nvGrpSpPr>
                      <p:cNvPr id="190" name="Group 189">
                        <a:extLst>
                          <a:ext uri="{FF2B5EF4-FFF2-40B4-BE49-F238E27FC236}">
                            <a16:creationId xmlns:a16="http://schemas.microsoft.com/office/drawing/2014/main" id="{8EBD980F-4970-4E06-9418-883D6B7EE4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7346" y="254977"/>
                        <a:ext cx="5778190" cy="5642680"/>
                        <a:chOff x="0" y="254977"/>
                        <a:chExt cx="5778190" cy="5642680"/>
                      </a:xfrm>
                    </p:grpSpPr>
                    <p:cxnSp>
                      <p:nvCxnSpPr>
                        <p:cNvPr id="191" name="Straight Connector 190">
                          <a:extLst>
                            <a:ext uri="{FF2B5EF4-FFF2-40B4-BE49-F238E27FC236}">
                              <a16:creationId xmlns:a16="http://schemas.microsoft.com/office/drawing/2014/main" id="{779B3EAA-9A4F-DCC2-D689-FBEC7A019B00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1872761" y="254977"/>
                          <a:ext cx="1577846" cy="11320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ysClr val="window" lastClr="FFFFFF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cxnSp>
                      <p:nvCxnSpPr>
                        <p:cNvPr id="192" name="Straight Connector 191">
                          <a:extLst>
                            <a:ext uri="{FF2B5EF4-FFF2-40B4-BE49-F238E27FC236}">
                              <a16:creationId xmlns:a16="http://schemas.microsoft.com/office/drawing/2014/main" id="{D882BBF9-A00E-93E2-1181-A4FB3B8753C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1960684" y="958361"/>
                          <a:ext cx="1362710" cy="0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ysClr val="window" lastClr="FFFFFF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  <p:grpSp>
                      <p:nvGrpSpPr>
                        <p:cNvPr id="193" name="Group 192">
                          <a:extLst>
                            <a:ext uri="{FF2B5EF4-FFF2-40B4-BE49-F238E27FC236}">
                              <a16:creationId xmlns:a16="http://schemas.microsoft.com/office/drawing/2014/main" id="{F0016071-0B3B-1750-A155-E0143D6F63C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1407801"/>
                          <a:ext cx="5778190" cy="4489856"/>
                          <a:chOff x="0" y="897848"/>
                          <a:chExt cx="5778190" cy="4489856"/>
                        </a:xfrm>
                      </p:grpSpPr>
                      <p:cxnSp>
                        <p:nvCxnSpPr>
                          <p:cNvPr id="194" name="Straight Connector 193">
                            <a:extLst>
                              <a:ext uri="{FF2B5EF4-FFF2-40B4-BE49-F238E27FC236}">
                                <a16:creationId xmlns:a16="http://schemas.microsoft.com/office/drawing/2014/main" id="{E1B8AA21-A2A1-9C70-EA4E-793DAEA27662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567354" y="897848"/>
                            <a:ext cx="0" cy="214183"/>
                          </a:xfrm>
                          <a:prstGeom prst="line">
                            <a:avLst/>
                          </a:prstGeom>
                          <a:noFill/>
                          <a:ln w="19050" cap="flat" cmpd="sng" algn="ctr">
                            <a:solidFill>
                              <a:srgbClr val="4472C4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195" name="Straight Connector 194">
                            <a:extLst>
                              <a:ext uri="{FF2B5EF4-FFF2-40B4-BE49-F238E27FC236}">
                                <a16:creationId xmlns:a16="http://schemas.microsoft.com/office/drawing/2014/main" id="{DE63C9DF-A00E-259A-ACDF-33AF28D15CC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620107" y="1925516"/>
                            <a:ext cx="0" cy="214183"/>
                          </a:xfrm>
                          <a:prstGeom prst="line">
                            <a:avLst/>
                          </a:prstGeom>
                          <a:noFill/>
                          <a:ln w="19050" cap="flat" cmpd="sng" algn="ctr">
                            <a:solidFill>
                              <a:srgbClr val="4472C4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</p:cxnSp>
                      <p:grpSp>
                        <p:nvGrpSpPr>
                          <p:cNvPr id="196" name="Group 195">
                            <a:extLst>
                              <a:ext uri="{FF2B5EF4-FFF2-40B4-BE49-F238E27FC236}">
                                <a16:creationId xmlns:a16="http://schemas.microsoft.com/office/drawing/2014/main" id="{0B2F57F4-2CE3-DD9D-A578-63EEB283BCE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0" y="2118947"/>
                            <a:ext cx="5778190" cy="3268757"/>
                            <a:chOff x="0" y="0"/>
                            <a:chExt cx="5778190" cy="3268757"/>
                          </a:xfrm>
                        </p:grpSpPr>
                        <p:cxnSp>
                          <p:nvCxnSpPr>
                            <p:cNvPr id="197" name="Straight Connector 196">
                              <a:extLst>
                                <a:ext uri="{FF2B5EF4-FFF2-40B4-BE49-F238E27FC236}">
                                  <a16:creationId xmlns:a16="http://schemas.microsoft.com/office/drawing/2014/main" id="{91C9D02F-D5AD-E709-FD54-9F7602D4DABD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0" y="0"/>
                              <a:ext cx="5439459" cy="35169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00B0F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  <p:cxnSp>
                          <p:nvCxnSpPr>
                            <p:cNvPr id="198" name="Straight Connector 197">
                              <a:extLst>
                                <a:ext uri="{FF2B5EF4-FFF2-40B4-BE49-F238E27FC236}">
                                  <a16:creationId xmlns:a16="http://schemas.microsoft.com/office/drawing/2014/main" id="{2963F6AE-1632-5DCE-87DC-D41B828F32EF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>
                              <a:off x="8792" y="26377"/>
                              <a:ext cx="0" cy="337185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00B0F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  <p:cxnSp>
                          <p:nvCxnSpPr>
                            <p:cNvPr id="199" name="Straight Connector 198">
                              <a:extLst>
                                <a:ext uri="{FF2B5EF4-FFF2-40B4-BE49-F238E27FC236}">
                                  <a16:creationId xmlns:a16="http://schemas.microsoft.com/office/drawing/2014/main" id="{08448DD8-6BB6-2035-385D-4649CF3A416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>
                              <a:off x="5442438" y="0"/>
                              <a:ext cx="0" cy="337185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00B0F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  <p:cxnSp>
                          <p:nvCxnSpPr>
                            <p:cNvPr id="200" name="Straight Connector 199">
                              <a:extLst>
                                <a:ext uri="{FF2B5EF4-FFF2-40B4-BE49-F238E27FC236}">
                                  <a16:creationId xmlns:a16="http://schemas.microsoft.com/office/drawing/2014/main" id="{86E471F3-CE76-8276-ED14-B0FF3464A4E6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>
                              <a:off x="2620107" y="26377"/>
                              <a:ext cx="0" cy="337185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4472C4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  <p:cxnSp>
                          <p:nvCxnSpPr>
                            <p:cNvPr id="201" name="Straight Connector 200">
                              <a:extLst>
                                <a:ext uri="{FF2B5EF4-FFF2-40B4-BE49-F238E27FC236}">
                                  <a16:creationId xmlns:a16="http://schemas.microsoft.com/office/drawing/2014/main" id="{2C8FEC80-71CD-D9C1-7377-4883059E865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237392" y="2998177"/>
                              <a:ext cx="89" cy="264017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00B0F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  <p:cxnSp>
                          <p:nvCxnSpPr>
                            <p:cNvPr id="202" name="Straight Connector 201">
                              <a:extLst>
                                <a:ext uri="{FF2B5EF4-FFF2-40B4-BE49-F238E27FC236}">
                                  <a16:creationId xmlns:a16="http://schemas.microsoft.com/office/drawing/2014/main" id="{BDFAA3DB-F7C9-6A7A-B5F6-0924ADEEBC39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5758961" y="2637692"/>
                              <a:ext cx="19229" cy="631065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00B0F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  <p:cxnSp>
                          <p:nvCxnSpPr>
                            <p:cNvPr id="203" name="Straight Connector 202">
                              <a:extLst>
                                <a:ext uri="{FF2B5EF4-FFF2-40B4-BE49-F238E27FC236}">
                                  <a16:creationId xmlns:a16="http://schemas.microsoft.com/office/drawing/2014/main" id="{AD3BA926-F6C5-19A6-5D9E-8BABA7EAADE9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>
                              <a:off x="237392" y="3261946"/>
                              <a:ext cx="5512069" cy="6440"/>
                            </a:xfrm>
                            <a:prstGeom prst="line">
                              <a:avLst/>
                            </a:prstGeom>
                            <a:noFill/>
                            <a:ln w="19050" cap="flat" cmpd="sng" algn="ctr">
                              <a:solidFill>
                                <a:srgbClr val="00B0F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</p:grpSp>
                    </p:grpSp>
                  </p:grpSp>
                </p:grpSp>
                <p:grpSp>
                  <p:nvGrpSpPr>
                    <p:cNvPr id="178" name="Group 177">
                      <a:extLst>
                        <a:ext uri="{FF2B5EF4-FFF2-40B4-BE49-F238E27FC236}">
                          <a16:creationId xmlns:a16="http://schemas.microsoft.com/office/drawing/2014/main" id="{6D1AD7F4-1DC1-6845-DD92-8533770F70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43200" y="5888736"/>
                      <a:ext cx="1428115" cy="1987061"/>
                      <a:chOff x="0" y="0"/>
                      <a:chExt cx="1428115" cy="1987061"/>
                    </a:xfrm>
                  </p:grpSpPr>
                  <p:sp>
                    <p:nvSpPr>
                      <p:cNvPr id="180" name="Rectangle: Rounded Corners 179">
                        <a:extLst>
                          <a:ext uri="{FF2B5EF4-FFF2-40B4-BE49-F238E27FC236}">
                            <a16:creationId xmlns:a16="http://schemas.microsoft.com/office/drawing/2014/main" id="{239DFBC7-9C09-DD72-FF35-331CA333DD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852854"/>
                        <a:ext cx="1428115" cy="670560"/>
                      </a:xfrm>
                      <a:prstGeom prst="roundRect">
                        <a:avLst/>
                      </a:prstGeom>
                      <a:solidFill>
                        <a:srgbClr val="4472C4"/>
                      </a:solidFill>
                      <a:ln w="12700" cap="flat" cmpd="sng" algn="ctr">
                        <a:solidFill>
                          <a:sysClr val="window" lastClr="FFFFFF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algn="ctr">
                          <a:lnSpc>
                            <a:spcPct val="115000"/>
                          </a:lnSpc>
                          <a:spcAft>
                            <a:spcPts val="800"/>
                          </a:spcAft>
                          <a:buNone/>
                        </a:pPr>
                        <a:r>
                          <a:rPr lang="en-US" sz="1100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Conclusion</a:t>
                        </a:r>
                        <a:endPara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  <a:p>
                        <a:pPr marL="0" marR="0" algn="ctr">
                          <a:lnSpc>
                            <a:spcPct val="115000"/>
                          </a:lnSpc>
                          <a:spcAft>
                            <a:spcPts val="800"/>
                          </a:spcAft>
                          <a:buNone/>
                        </a:pPr>
                        <a:r>
                          <a:rPr lang="en-US" sz="1100" kern="100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Recommendation</a:t>
                        </a:r>
                        <a:endPara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cxnSp>
                    <p:nvCxnSpPr>
                      <p:cNvPr id="181" name="Straight Connector 180">
                        <a:extLst>
                          <a:ext uri="{FF2B5EF4-FFF2-40B4-BE49-F238E27FC236}">
                            <a16:creationId xmlns:a16="http://schemas.microsoft.com/office/drawing/2014/main" id="{EFEA1C57-71C5-B0C6-55FB-D8A7E8199F5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03384" y="0"/>
                        <a:ext cx="0" cy="207834"/>
                      </a:xfrm>
                      <a:prstGeom prst="line">
                        <a:avLst/>
                      </a:prstGeom>
                      <a:noFill/>
                      <a:ln w="19050" cap="flat" cmpd="sng" algn="ctr">
                        <a:solidFill>
                          <a:srgbClr val="4472C4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183" name="Straight Connector 182">
                        <a:extLst>
                          <a:ext uri="{FF2B5EF4-FFF2-40B4-BE49-F238E27FC236}">
                            <a16:creationId xmlns:a16="http://schemas.microsoft.com/office/drawing/2014/main" id="{AAF9895F-10DD-F9F7-77D9-2A5DBF7B43E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130" y="1116623"/>
                        <a:ext cx="1270000" cy="0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ysClr val="window" lastClr="FFFFFF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184" name="Straight Connector 183">
                        <a:extLst>
                          <a:ext uri="{FF2B5EF4-FFF2-40B4-BE49-F238E27FC236}">
                            <a16:creationId xmlns:a16="http://schemas.microsoft.com/office/drawing/2014/main" id="{073CE527-CC88-65DE-5469-07DE3F108A88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1546" y="1987061"/>
                        <a:ext cx="1270000" cy="0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ysClr val="window" lastClr="FFFFFF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</p:grpSp>
              </p:grpSp>
            </p:grpSp>
          </p:grpSp>
          <p:sp>
            <p:nvSpPr>
              <p:cNvPr id="167" name="Rectangle: Rounded Corners 166">
                <a:extLst>
                  <a:ext uri="{FF2B5EF4-FFF2-40B4-BE49-F238E27FC236}">
                    <a16:creationId xmlns:a16="http://schemas.microsoft.com/office/drawing/2014/main" id="{23F6C749-D1F2-8DC0-93A2-61E220363F4C}"/>
                  </a:ext>
                </a:extLst>
              </p:cNvPr>
              <p:cNvSpPr/>
              <p:nvPr/>
            </p:nvSpPr>
            <p:spPr>
              <a:xfrm>
                <a:off x="2421924" y="617837"/>
                <a:ext cx="1781773" cy="547446"/>
              </a:xfrm>
              <a:prstGeom prst="roundRect">
                <a:avLst/>
              </a:prstGeom>
              <a:solidFill>
                <a:srgbClr val="4472C4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100" kern="10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Data Collection Portuguese Bank Dataset</a:t>
                </a:r>
                <a:endParaRPr lang="en-US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D0459F85-25DA-7203-02D7-1896244536B1}"/>
                  </a:ext>
                </a:extLst>
              </p:cNvPr>
              <p:cNvSpPr/>
              <p:nvPr/>
            </p:nvSpPr>
            <p:spPr>
              <a:xfrm>
                <a:off x="2660822" y="1301578"/>
                <a:ext cx="1432724" cy="937648"/>
              </a:xfrm>
              <a:prstGeom prst="roundRect">
                <a:avLst/>
              </a:prstGeom>
              <a:solidFill>
                <a:srgbClr val="4472C4">
                  <a:lumMod val="50000"/>
                </a:srgbClr>
              </a:solidFill>
              <a:ln w="1270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Data Preparation</a:t>
                </a:r>
                <a:endPara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Import Libraries</a:t>
                </a:r>
                <a:endPara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Load Dataset</a:t>
                </a:r>
                <a:endParaRPr lang="en-US" sz="12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8336405E-3B70-81AE-AF18-F96D1AB9C793}"/>
                  </a:ext>
                </a:extLst>
              </p:cNvPr>
              <p:cNvCxnSpPr/>
              <p:nvPr/>
            </p:nvCxnSpPr>
            <p:spPr>
              <a:xfrm>
                <a:off x="2726724" y="1589902"/>
                <a:ext cx="1285103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320EE3BB-014C-FF95-C407-F59275DBB81E}"/>
                  </a:ext>
                </a:extLst>
              </p:cNvPr>
              <p:cNvCxnSpPr/>
              <p:nvPr/>
            </p:nvCxnSpPr>
            <p:spPr>
              <a:xfrm>
                <a:off x="2520778" y="848497"/>
                <a:ext cx="1614617" cy="16476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9308AE2-B762-2E6D-54B8-0E526B22B225}"/>
                </a:ext>
              </a:extLst>
            </p:cNvPr>
            <p:cNvCxnSpPr/>
            <p:nvPr/>
          </p:nvCxnSpPr>
          <p:spPr>
            <a:xfrm flipV="1">
              <a:off x="2883243" y="7545859"/>
              <a:ext cx="1123279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</p:grp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59824D83-3D35-4AA5-AB39-EBA3C8B91ED2}"/>
              </a:ext>
            </a:extLst>
          </p:cNvPr>
          <p:cNvSpPr/>
          <p:nvPr/>
        </p:nvSpPr>
        <p:spPr>
          <a:xfrm>
            <a:off x="3769992" y="5184869"/>
            <a:ext cx="1408089" cy="574668"/>
          </a:xfrm>
          <a:prstGeom prst="roundRect">
            <a:avLst/>
          </a:prstGeom>
          <a:solidFill>
            <a:srgbClr val="00B05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C899EBB8-F7E0-231E-7A29-8AE9C6466AC5}"/>
              </a:ext>
            </a:extLst>
          </p:cNvPr>
          <p:cNvCxnSpPr/>
          <p:nvPr/>
        </p:nvCxnSpPr>
        <p:spPr>
          <a:xfrm>
            <a:off x="3877239" y="5431063"/>
            <a:ext cx="1252191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236C490-0B0C-0FEC-D238-CB3902BA7A7B}"/>
              </a:ext>
            </a:extLst>
          </p:cNvPr>
          <p:cNvCxnSpPr/>
          <p:nvPr/>
        </p:nvCxnSpPr>
        <p:spPr>
          <a:xfrm>
            <a:off x="5402147" y="6032286"/>
            <a:ext cx="1252191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C308447A-3E65-EDD4-CD18-64E7478B9F52}"/>
              </a:ext>
            </a:extLst>
          </p:cNvPr>
          <p:cNvSpPr txBox="1"/>
          <p:nvPr/>
        </p:nvSpPr>
        <p:spPr>
          <a:xfrm rot="16200000">
            <a:off x="-2740425" y="2012248"/>
            <a:ext cx="5996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</a:t>
            </a:r>
            <a:r>
              <a:rPr lang="en-US" b="1" dirty="0"/>
              <a:t>: Workflow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01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88C6-4A57-8276-16E9-2466AADD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FD97-4D58-2CA8-4BD2-FAC8F59AC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56" y="1002892"/>
            <a:ext cx="8552058" cy="3027570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endParaRPr lang="en-US" sz="1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1200" b="1" dirty="0">
                <a:solidFill>
                  <a:srgbClr val="FF0000"/>
                </a:solidFill>
              </a:rPr>
              <a:t> </a:t>
            </a:r>
            <a:r>
              <a:rPr lang="en-US" sz="11200" b="1" dirty="0"/>
              <a:t>Source: </a:t>
            </a:r>
            <a:r>
              <a:rPr lang="en-US" sz="11200" dirty="0"/>
              <a:t>Portuguese Bank Marketing Campaigns</a:t>
            </a:r>
          </a:p>
          <a:p>
            <a:pPr marL="0" indent="0" algn="just">
              <a:buNone/>
            </a:pPr>
            <a:endParaRPr lang="en-US" sz="1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1200" b="1" dirty="0">
                <a:solidFill>
                  <a:srgbClr val="FF0000"/>
                </a:solidFill>
              </a:rPr>
              <a:t> </a:t>
            </a:r>
            <a:r>
              <a:rPr lang="en-US" sz="11200" b="1" dirty="0"/>
              <a:t>Records: </a:t>
            </a:r>
            <a:r>
              <a:rPr lang="en-US" sz="11200" dirty="0"/>
              <a:t>45,211 clients who were contacted through phone calls; 17 features.</a:t>
            </a:r>
          </a:p>
          <a:p>
            <a:pPr marL="0" indent="0" algn="just">
              <a:buNone/>
            </a:pPr>
            <a:endParaRPr lang="en-US" sz="1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1200" b="1" dirty="0">
                <a:solidFill>
                  <a:srgbClr val="FF0000"/>
                </a:solidFill>
              </a:rPr>
              <a:t> </a:t>
            </a:r>
            <a:r>
              <a:rPr lang="en-US" sz="11200" b="1" dirty="0"/>
              <a:t>Variables: </a:t>
            </a:r>
            <a:r>
              <a:rPr lang="en-US" sz="11200" dirty="0"/>
              <a:t>Numeric and Categorical Features</a:t>
            </a:r>
          </a:p>
          <a:p>
            <a:pPr marL="0" indent="0" algn="just">
              <a:buNone/>
            </a:pPr>
            <a:endParaRPr lang="en-US" sz="1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1200" dirty="0">
                <a:solidFill>
                  <a:srgbClr val="FF0000"/>
                </a:solidFill>
              </a:rPr>
              <a:t> </a:t>
            </a:r>
            <a:r>
              <a:rPr lang="en-US" sz="11200" b="1" dirty="0"/>
              <a:t>Data Types: </a:t>
            </a:r>
            <a:r>
              <a:rPr lang="en-US" sz="11200" dirty="0"/>
              <a:t>Integers and object</a:t>
            </a:r>
          </a:p>
          <a:p>
            <a:pPr marL="0" indent="0" algn="just">
              <a:buNone/>
            </a:pPr>
            <a:endParaRPr lang="en-US" sz="5900" dirty="0"/>
          </a:p>
          <a:p>
            <a:pPr marL="0" indent="0" algn="just">
              <a:buNone/>
            </a:pPr>
            <a:endParaRPr lang="en-US" sz="5800" dirty="0"/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endParaRPr lang="en-US" sz="4300" dirty="0">
              <a:solidFill>
                <a:srgbClr val="0070C0"/>
              </a:solidFill>
            </a:endParaRPr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56B7F6E3-FFAB-8773-4E90-BA7EA8F1A4F8}"/>
              </a:ext>
            </a:extLst>
          </p:cNvPr>
          <p:cNvSpPr/>
          <p:nvPr/>
        </p:nvSpPr>
        <p:spPr>
          <a:xfrm>
            <a:off x="457200" y="235976"/>
            <a:ext cx="8229600" cy="766916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18B30-2117-4B5C-A4C3-6B0719336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86" y="4945430"/>
            <a:ext cx="8328827" cy="18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6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E6605-8DD7-12C9-32CA-D2A20076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BDF0-2C46-3265-08D3-9103819FF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2" y="4512364"/>
            <a:ext cx="8775291" cy="19977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5800" dirty="0"/>
          </a:p>
          <a:p>
            <a:pPr marL="0" indent="0">
              <a:buNone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endParaRPr lang="en-US" sz="4300" dirty="0">
              <a:solidFill>
                <a:srgbClr val="0070C0"/>
              </a:solidFill>
            </a:endParaRPr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74700243-37DF-9E52-14DC-09A6C98AE6A6}"/>
              </a:ext>
            </a:extLst>
          </p:cNvPr>
          <p:cNvSpPr/>
          <p:nvPr/>
        </p:nvSpPr>
        <p:spPr>
          <a:xfrm>
            <a:off x="457200" y="206159"/>
            <a:ext cx="8229600" cy="766916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5A2D4-A51F-7767-6F9A-9A7C28A19AB4}"/>
              </a:ext>
            </a:extLst>
          </p:cNvPr>
          <p:cNvSpPr txBox="1"/>
          <p:nvPr/>
        </p:nvSpPr>
        <p:spPr>
          <a:xfrm>
            <a:off x="117986" y="1224862"/>
            <a:ext cx="881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Table 1</a:t>
            </a:r>
            <a:r>
              <a:rPr lang="en-US" b="1" dirty="0"/>
              <a:t>: Bank Dataset on Colab environment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E09627-1087-49BB-907D-90532E9131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8" t="1826"/>
          <a:stretch/>
        </p:blipFill>
        <p:spPr>
          <a:xfrm>
            <a:off x="0" y="1845981"/>
            <a:ext cx="9198121" cy="397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9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642AC-4201-8402-245F-9B043B7C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1620A-7C64-705A-3155-0559FA0F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2" y="759543"/>
            <a:ext cx="8775291" cy="533891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750" dirty="0"/>
              <a:t>The bank dataset includes detailed information on client:</a:t>
            </a:r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US" sz="1750" b="1" dirty="0">
                <a:solidFill>
                  <a:srgbClr val="FF0000"/>
                </a:solidFill>
              </a:rPr>
              <a:t>  </a:t>
            </a:r>
            <a:r>
              <a:rPr lang="en-US" sz="1750" b="1" dirty="0"/>
              <a:t>Demographics</a:t>
            </a:r>
            <a:r>
              <a:rPr lang="en-US" sz="1750" dirty="0"/>
              <a:t>: age, job, marital, and education</a:t>
            </a:r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US" sz="1750" b="1" dirty="0">
                <a:solidFill>
                  <a:srgbClr val="FF0000"/>
                </a:solidFill>
              </a:rPr>
              <a:t>  </a:t>
            </a:r>
            <a:r>
              <a:rPr lang="en-US" sz="1750" b="1" dirty="0"/>
              <a:t>Financial</a:t>
            </a:r>
            <a:r>
              <a:rPr lang="en-US" sz="1750" dirty="0"/>
              <a:t> </a:t>
            </a:r>
            <a:r>
              <a:rPr lang="en-US" sz="1750" b="1" dirty="0"/>
              <a:t>status: </a:t>
            </a:r>
            <a:r>
              <a:rPr lang="en-US" sz="1750" dirty="0"/>
              <a:t> Has credit in default, housing loan, or a personal loan</a:t>
            </a:r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US" sz="1750" b="1" dirty="0">
                <a:solidFill>
                  <a:srgbClr val="FF0000"/>
                </a:solidFill>
              </a:rPr>
              <a:t>  </a:t>
            </a:r>
            <a:r>
              <a:rPr lang="en-US" sz="1750" b="1" dirty="0"/>
              <a:t>Past</a:t>
            </a:r>
            <a:r>
              <a:rPr lang="en-US" sz="1750" dirty="0"/>
              <a:t> </a:t>
            </a:r>
            <a:r>
              <a:rPr lang="en-US" sz="1750" b="1" dirty="0"/>
              <a:t>interactions</a:t>
            </a:r>
            <a:r>
              <a:rPr lang="en-US" sz="1750" dirty="0"/>
              <a:t>: Contact type, month, </a:t>
            </a:r>
            <a:r>
              <a:rPr lang="en-US" sz="1750" dirty="0" err="1"/>
              <a:t>day_of_week</a:t>
            </a:r>
            <a:r>
              <a:rPr lang="en-US" sz="1750" dirty="0"/>
              <a:t>, and duration  </a:t>
            </a:r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US" sz="1750" b="1" dirty="0">
                <a:solidFill>
                  <a:srgbClr val="FF0000"/>
                </a:solidFill>
              </a:rPr>
              <a:t>  </a:t>
            </a:r>
            <a:r>
              <a:rPr lang="en-US" sz="1750" b="1" dirty="0"/>
              <a:t>Campaign</a:t>
            </a:r>
            <a:r>
              <a:rPr lang="en-US" sz="1750" dirty="0"/>
              <a:t> </a:t>
            </a:r>
            <a:r>
              <a:rPr lang="en-US" sz="1750" b="1" dirty="0"/>
              <a:t>History: </a:t>
            </a:r>
            <a:r>
              <a:rPr lang="en-US" sz="1750" dirty="0"/>
              <a:t>Number of contacts made during and before this campaign </a:t>
            </a:r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US" sz="1750" b="1" dirty="0">
                <a:solidFill>
                  <a:srgbClr val="FF0000"/>
                </a:solidFill>
              </a:rPr>
              <a:t>  </a:t>
            </a:r>
            <a:r>
              <a:rPr lang="en-US" sz="1750" b="1" dirty="0" err="1"/>
              <a:t>Pdays</a:t>
            </a:r>
            <a:r>
              <a:rPr lang="en-US" sz="1750" b="1" dirty="0"/>
              <a:t>: </a:t>
            </a:r>
            <a:r>
              <a:rPr lang="en-US" sz="1750" dirty="0"/>
              <a:t>Number of days passed since the client was last contacted from a previous campaign </a:t>
            </a:r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GB" sz="1750" b="1" dirty="0">
                <a:solidFill>
                  <a:srgbClr val="FF0000"/>
                </a:solidFill>
              </a:rPr>
              <a:t> </a:t>
            </a:r>
            <a:r>
              <a:rPr lang="en-GB" sz="1750" b="1" dirty="0"/>
              <a:t>Previous: </a:t>
            </a:r>
            <a:r>
              <a:rPr lang="en-GB" sz="1750" dirty="0"/>
              <a:t>Number of contacts made before this campaign and for this client (numeric).</a:t>
            </a:r>
            <a:endParaRPr lang="en-US" sz="1750" dirty="0"/>
          </a:p>
          <a:p>
            <a:pPr marL="0" indent="0" algn="just">
              <a:buNone/>
            </a:pPr>
            <a:endParaRPr lang="en-US" sz="1750" dirty="0"/>
          </a:p>
          <a:p>
            <a:pPr algn="just">
              <a:buFontTx/>
              <a:buChar char="-"/>
            </a:pPr>
            <a:r>
              <a:rPr lang="en-US" sz="1750" b="1" dirty="0">
                <a:solidFill>
                  <a:srgbClr val="FF0000"/>
                </a:solidFill>
              </a:rPr>
              <a:t> </a:t>
            </a:r>
            <a:r>
              <a:rPr lang="en-US" sz="1750" b="1" dirty="0" err="1"/>
              <a:t>Poutcome</a:t>
            </a:r>
            <a:r>
              <a:rPr lang="en-US" sz="1750" dirty="0"/>
              <a:t>: Outcome of the previous marketing campaign </a:t>
            </a:r>
          </a:p>
          <a:p>
            <a:pPr marL="0" indent="0" algn="just">
              <a:buNone/>
            </a:pPr>
            <a:endParaRPr lang="en-US" sz="1750" dirty="0"/>
          </a:p>
          <a:p>
            <a:pPr marL="0" indent="0" algn="just">
              <a:buNone/>
            </a:pPr>
            <a:r>
              <a:rPr lang="en-US" sz="1750" dirty="0">
                <a:solidFill>
                  <a:srgbClr val="FF0000"/>
                </a:solidFill>
              </a:rPr>
              <a:t>-      </a:t>
            </a:r>
            <a:r>
              <a:rPr lang="en-US" sz="1750" b="1" dirty="0"/>
              <a:t>Target</a:t>
            </a:r>
            <a:r>
              <a:rPr lang="en-US" sz="1750" b="1" dirty="0">
                <a:solidFill>
                  <a:srgbClr val="FF0000"/>
                </a:solidFill>
              </a:rPr>
              <a:t> </a:t>
            </a:r>
            <a:r>
              <a:rPr lang="en-US" sz="1750" b="1" dirty="0"/>
              <a:t>Variable ‘y’:</a:t>
            </a:r>
            <a:r>
              <a:rPr lang="en-US" sz="1750" dirty="0"/>
              <a:t> indicates if the client subscribed to a term deposit (</a:t>
            </a:r>
            <a:r>
              <a:rPr lang="en-US" sz="1750" b="1" dirty="0">
                <a:solidFill>
                  <a:srgbClr val="002060"/>
                </a:solidFill>
              </a:rPr>
              <a:t>yes</a:t>
            </a:r>
            <a:r>
              <a:rPr lang="en-US" sz="1750" dirty="0"/>
              <a:t> or </a:t>
            </a:r>
            <a:r>
              <a:rPr lang="en-US" sz="1750" b="1" dirty="0">
                <a:solidFill>
                  <a:srgbClr val="002060"/>
                </a:solidFill>
              </a:rPr>
              <a:t>no</a:t>
            </a:r>
            <a:r>
              <a:rPr lang="en-US" sz="1750" dirty="0"/>
              <a:t>)</a:t>
            </a:r>
          </a:p>
          <a:p>
            <a:pPr algn="just">
              <a:buFontTx/>
              <a:buChar char="-"/>
            </a:pPr>
            <a:endParaRPr lang="en-US" sz="1750" dirty="0"/>
          </a:p>
          <a:p>
            <a:pPr marL="0" indent="0">
              <a:buNone/>
            </a:pPr>
            <a:endParaRPr lang="en-US" sz="175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7A2BA357-C0BE-31BD-0190-95419E43B4A9}"/>
              </a:ext>
            </a:extLst>
          </p:cNvPr>
          <p:cNvSpPr/>
          <p:nvPr/>
        </p:nvSpPr>
        <p:spPr>
          <a:xfrm>
            <a:off x="720671" y="36326"/>
            <a:ext cx="7028482" cy="63785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</a:t>
            </a:r>
          </a:p>
        </p:txBody>
      </p:sp>
    </p:spTree>
    <p:extLst>
      <p:ext uri="{BB962C8B-B14F-4D97-AF65-F5344CB8AC3E}">
        <p14:creationId xmlns:p14="http://schemas.microsoft.com/office/powerpoint/2010/main" val="1039484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6037-724C-1F5E-05E8-1C16DF84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C2E1-38D4-5C83-602D-4AF446889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2" y="815429"/>
            <a:ext cx="8775291" cy="4929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300" dirty="0">
                <a:solidFill>
                  <a:srgbClr val="FF0000"/>
                </a:solidFill>
              </a:rPr>
              <a:t> </a:t>
            </a:r>
            <a:endParaRPr lang="en-US" sz="4300" dirty="0">
              <a:solidFill>
                <a:srgbClr val="0070C0"/>
              </a:solidFill>
            </a:endParaRPr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2EFCE923-6AD0-F579-8B9E-B7A9261A61A3}"/>
              </a:ext>
            </a:extLst>
          </p:cNvPr>
          <p:cNvSpPr/>
          <p:nvPr/>
        </p:nvSpPr>
        <p:spPr>
          <a:xfrm>
            <a:off x="1137285" y="149507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9353F-B9C3-1353-3FF8-DA32BF262CF5}"/>
              </a:ext>
            </a:extLst>
          </p:cNvPr>
          <p:cNvSpPr txBox="1"/>
          <p:nvPr/>
        </p:nvSpPr>
        <p:spPr>
          <a:xfrm>
            <a:off x="140109" y="1146258"/>
            <a:ext cx="881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Table 2</a:t>
            </a:r>
            <a:r>
              <a:rPr lang="en-US" b="1" dirty="0"/>
              <a:t>: Summary statistics of the Bank Dataset on Colab environment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E692D5-180D-9C9E-7C0B-2FABF952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90"/>
          <a:stretch>
            <a:fillRect/>
          </a:stretch>
        </p:blipFill>
        <p:spPr>
          <a:xfrm>
            <a:off x="228889" y="1623328"/>
            <a:ext cx="8731046" cy="444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3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C7DA-0031-9B28-3C21-0739496E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D50ED18A-AE16-9A76-9EE1-6D9C0EB230E1}"/>
              </a:ext>
            </a:extLst>
          </p:cNvPr>
          <p:cNvSpPr/>
          <p:nvPr/>
        </p:nvSpPr>
        <p:spPr>
          <a:xfrm>
            <a:off x="1137285" y="78484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CON’D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93BE2-D43F-491F-91AF-0E7BAFB6F1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69" y="1022265"/>
            <a:ext cx="7945848" cy="49910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C068A-6142-49D2-99FF-BE0145C173DF}"/>
              </a:ext>
            </a:extLst>
          </p:cNvPr>
          <p:cNvSpPr txBox="1"/>
          <p:nvPr/>
        </p:nvSpPr>
        <p:spPr>
          <a:xfrm>
            <a:off x="36182" y="5786002"/>
            <a:ext cx="8819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8</a:t>
            </a:r>
            <a:r>
              <a:rPr lang="en-US" b="1" dirty="0"/>
              <a:t>: Boxplots of Numerical Variables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056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11282-4F45-FF62-6C32-BF3B8311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34938B2-26E8-2301-D230-09FAD2EC7BA6}"/>
              </a:ext>
            </a:extLst>
          </p:cNvPr>
          <p:cNvSpPr/>
          <p:nvPr/>
        </p:nvSpPr>
        <p:spPr>
          <a:xfrm>
            <a:off x="1137285" y="60728"/>
            <a:ext cx="6869430" cy="589295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4FC34-64AE-E651-4A71-688741DF3DA8}"/>
              </a:ext>
            </a:extLst>
          </p:cNvPr>
          <p:cNvSpPr txBox="1"/>
          <p:nvPr/>
        </p:nvSpPr>
        <p:spPr>
          <a:xfrm>
            <a:off x="162232" y="6454557"/>
            <a:ext cx="881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Fig. 2</a:t>
            </a:r>
            <a:r>
              <a:rPr lang="en-US" b="1" dirty="0"/>
              <a:t>: Customer’s Distribution by Job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8F992F1-37C8-76F2-700E-C246B3422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94" y="1653621"/>
            <a:ext cx="8129753" cy="474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690AED-6A09-4A6D-B981-16AB01A97F6C}"/>
              </a:ext>
            </a:extLst>
          </p:cNvPr>
          <p:cNvSpPr/>
          <p:nvPr/>
        </p:nvSpPr>
        <p:spPr>
          <a:xfrm>
            <a:off x="387619" y="677023"/>
            <a:ext cx="86166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Summary statistics indicate that:</a:t>
            </a:r>
          </a:p>
          <a:p>
            <a:endParaRPr lang="en-GB" dirty="0"/>
          </a:p>
          <a:p>
            <a:r>
              <a:rPr lang="en-GB" dirty="0"/>
              <a:t>Most clients were aged 30–40, married, have blue-collar jobs, and secondary educated.</a:t>
            </a:r>
          </a:p>
        </p:txBody>
      </p:sp>
    </p:spTree>
    <p:extLst>
      <p:ext uri="{BB962C8B-B14F-4D97-AF65-F5344CB8AC3E}">
        <p14:creationId xmlns:p14="http://schemas.microsoft.com/office/powerpoint/2010/main" val="123519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E229-4B4F-1794-6775-B5D10B48E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91B4E4EB-5C63-3A03-BD77-A794B278566A}"/>
              </a:ext>
            </a:extLst>
          </p:cNvPr>
          <p:cNvSpPr/>
          <p:nvPr/>
        </p:nvSpPr>
        <p:spPr>
          <a:xfrm>
            <a:off x="1137285" y="78484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7EB13-E511-751E-4B50-10951B891897}"/>
              </a:ext>
            </a:extLst>
          </p:cNvPr>
          <p:cNvSpPr txBox="1"/>
          <p:nvPr/>
        </p:nvSpPr>
        <p:spPr>
          <a:xfrm>
            <a:off x="0" y="5136444"/>
            <a:ext cx="881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Fig. 3</a:t>
            </a:r>
            <a:r>
              <a:rPr lang="en-US" b="1" dirty="0"/>
              <a:t>: Customer’s Distribution by Marital status and Education level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97B7B8-4A85-53E0-D1A6-AEAF4A8E4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6640"/>
            <a:ext cx="4386118" cy="397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A97CF1C-611B-E832-C938-667B714FF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117" y="1352223"/>
            <a:ext cx="4767189" cy="341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873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4800-8745-FB6E-DDB9-BED92BBA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1ADF59E2-33AB-6708-3C47-D000EC6806E9}"/>
              </a:ext>
            </a:extLst>
          </p:cNvPr>
          <p:cNvSpPr/>
          <p:nvPr/>
        </p:nvSpPr>
        <p:spPr>
          <a:xfrm>
            <a:off x="1137285" y="69603"/>
            <a:ext cx="6869430" cy="49244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C476C-0EB1-2759-1C41-6A72428ED6CA}"/>
              </a:ext>
            </a:extLst>
          </p:cNvPr>
          <p:cNvSpPr txBox="1"/>
          <p:nvPr/>
        </p:nvSpPr>
        <p:spPr>
          <a:xfrm rot="16200000">
            <a:off x="-880969" y="4837341"/>
            <a:ext cx="2944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Fig. 4</a:t>
            </a:r>
            <a:r>
              <a:rPr lang="en-US" b="1" dirty="0"/>
              <a:t>: Customer’s Distribution by Default, Housing and Personal loan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E3F723-34BA-DB17-B0A0-F43FDD50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" y="1171853"/>
            <a:ext cx="4704105" cy="294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A940DDA-F020-5341-7C81-3BE400560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181" y="1171853"/>
            <a:ext cx="4308608" cy="277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C8EEA7-9AB6-4AB2-AC16-E40290587BCC}"/>
              </a:ext>
            </a:extLst>
          </p:cNvPr>
          <p:cNvSpPr/>
          <p:nvPr/>
        </p:nvSpPr>
        <p:spPr>
          <a:xfrm>
            <a:off x="36517" y="543856"/>
            <a:ext cx="88855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 </a:t>
            </a:r>
            <a:r>
              <a:rPr lang="en-US" sz="1650" dirty="0"/>
              <a:t>Fewer customers had credit in default, and personal loans, with majority having a housing loan.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7A3F1E4-555F-4247-904E-DFC262424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853" y="4115923"/>
            <a:ext cx="4989784" cy="274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422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91F5-3388-6633-2E57-0A01CBE5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863DA716-461F-417E-DACD-BA067B3522A2}"/>
              </a:ext>
            </a:extLst>
          </p:cNvPr>
          <p:cNvSpPr/>
          <p:nvPr/>
        </p:nvSpPr>
        <p:spPr>
          <a:xfrm>
            <a:off x="1137285" y="78484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D26838-11BD-B15D-FA97-1BF82DB532A2}"/>
              </a:ext>
            </a:extLst>
          </p:cNvPr>
          <p:cNvSpPr txBox="1"/>
          <p:nvPr/>
        </p:nvSpPr>
        <p:spPr>
          <a:xfrm>
            <a:off x="324464" y="5801134"/>
            <a:ext cx="8819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5</a:t>
            </a:r>
            <a:r>
              <a:rPr lang="en-US" b="1" dirty="0"/>
              <a:t>: Contact by </a:t>
            </a:r>
            <a:r>
              <a:rPr lang="en-US" b="1" dirty="0" err="1"/>
              <a:t>Day_of_week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063F997-F2C1-5493-025A-6C7B184BA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"/>
          <a:stretch>
            <a:fillRect/>
          </a:stretch>
        </p:blipFill>
        <p:spPr bwMode="auto">
          <a:xfrm>
            <a:off x="392303" y="1494532"/>
            <a:ext cx="8156897" cy="485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7BE73A-DE8A-4F7A-B980-E970C581569C}"/>
              </a:ext>
            </a:extLst>
          </p:cNvPr>
          <p:cNvSpPr/>
          <p:nvPr/>
        </p:nvSpPr>
        <p:spPr>
          <a:xfrm>
            <a:off x="403930" y="824300"/>
            <a:ext cx="8562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 Majority of the customers were contacted on Saturdays in May month via cellular  	calls and the outcome of the previous campaign (</a:t>
            </a:r>
            <a:r>
              <a:rPr lang="en-GB" dirty="0" err="1"/>
              <a:t>Poutcome</a:t>
            </a:r>
            <a:r>
              <a:rPr lang="en-GB" dirty="0"/>
              <a:t>) was unknown.</a:t>
            </a:r>
          </a:p>
        </p:txBody>
      </p:sp>
    </p:spTree>
    <p:extLst>
      <p:ext uri="{BB962C8B-B14F-4D97-AF65-F5344CB8AC3E}">
        <p14:creationId xmlns:p14="http://schemas.microsoft.com/office/powerpoint/2010/main" val="4197699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D12CE-EFF9-DF4A-7088-35017F49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B49B2778-DF6E-3534-0BBB-F51B09C4541A}"/>
              </a:ext>
            </a:extLst>
          </p:cNvPr>
          <p:cNvSpPr/>
          <p:nvPr/>
        </p:nvSpPr>
        <p:spPr>
          <a:xfrm>
            <a:off x="1137285" y="78484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492A-79CB-BF89-48A3-9FF8A13A8CE4}"/>
              </a:ext>
            </a:extLst>
          </p:cNvPr>
          <p:cNvSpPr txBox="1"/>
          <p:nvPr/>
        </p:nvSpPr>
        <p:spPr>
          <a:xfrm>
            <a:off x="97117" y="5684561"/>
            <a:ext cx="881953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sz="1850" b="1" dirty="0">
              <a:solidFill>
                <a:srgbClr val="FF0000"/>
              </a:solidFill>
            </a:endParaRPr>
          </a:p>
          <a:p>
            <a:r>
              <a:rPr lang="en-US" sz="1850" b="1" dirty="0">
                <a:solidFill>
                  <a:srgbClr val="FF0000"/>
                </a:solidFill>
              </a:rPr>
              <a:t>Fig. 6</a:t>
            </a:r>
            <a:r>
              <a:rPr lang="en-US" sz="1850" b="1" dirty="0"/>
              <a:t>: Contact by month</a:t>
            </a:r>
            <a:endParaRPr lang="en-US" sz="185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76FCE-63B7-4F33-8C3D-DEB73C0C1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59" y="985423"/>
            <a:ext cx="8821868" cy="514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304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4E29-FEAC-7A5C-DA7B-65E9CA68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5F6DA592-E768-BBB6-B117-1DEFBA478FC7}"/>
              </a:ext>
            </a:extLst>
          </p:cNvPr>
          <p:cNvSpPr/>
          <p:nvPr/>
        </p:nvSpPr>
        <p:spPr>
          <a:xfrm>
            <a:off x="1137285" y="149506"/>
            <a:ext cx="686943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DESCRIPTIVE ANALYSIS CONT’D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152793-03CF-B977-CC3A-09B69CA4AB9E}"/>
              </a:ext>
            </a:extLst>
          </p:cNvPr>
          <p:cNvSpPr txBox="1"/>
          <p:nvPr/>
        </p:nvSpPr>
        <p:spPr>
          <a:xfrm>
            <a:off x="133837" y="5324355"/>
            <a:ext cx="8819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7</a:t>
            </a:r>
            <a:r>
              <a:rPr lang="en-US" b="1" dirty="0"/>
              <a:t>: Outcome of the Contact Method and Previous Campaign (</a:t>
            </a:r>
            <a:r>
              <a:rPr lang="en-US" b="1" dirty="0" err="1"/>
              <a:t>Poutcome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8E19D53-BED9-0580-B704-562BF6D98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828" y="2111694"/>
            <a:ext cx="4698050" cy="345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B13AF8-966B-4FBC-8D76-8C394B075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2847"/>
            <a:ext cx="4445950" cy="33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DCD3C-503D-469B-ADEE-3494F082313F}"/>
              </a:ext>
            </a:extLst>
          </p:cNvPr>
          <p:cNvSpPr/>
          <p:nvPr/>
        </p:nvSpPr>
        <p:spPr>
          <a:xfrm>
            <a:off x="0" y="996624"/>
            <a:ext cx="9037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  Outcome of he previous marketing campaign (</a:t>
            </a:r>
            <a:r>
              <a:rPr lang="en-GB" dirty="0" err="1"/>
              <a:t>Poutcome</a:t>
            </a:r>
            <a:r>
              <a:rPr lang="en-GB" dirty="0"/>
              <a:t>) is mostly unknown suggesting 	most customers have no prior campaign history or no usable record.</a:t>
            </a:r>
          </a:p>
        </p:txBody>
      </p:sp>
    </p:spTree>
    <p:extLst>
      <p:ext uri="{BB962C8B-B14F-4D97-AF65-F5344CB8AC3E}">
        <p14:creationId xmlns:p14="http://schemas.microsoft.com/office/powerpoint/2010/main" val="1189621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4E29-FEAC-7A5C-DA7B-65E9CA68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152793-03CF-B977-CC3A-09B69CA4AB9E}"/>
              </a:ext>
            </a:extLst>
          </p:cNvPr>
          <p:cNvSpPr txBox="1"/>
          <p:nvPr/>
        </p:nvSpPr>
        <p:spPr>
          <a:xfrm>
            <a:off x="162232" y="2145076"/>
            <a:ext cx="881953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pPr algn="ctr"/>
            <a:r>
              <a:rPr lang="en-US" sz="4000" b="1" dirty="0">
                <a:solidFill>
                  <a:schemeClr val="bg1">
                    <a:lumMod val="65000"/>
                  </a:schemeClr>
                </a:solidFill>
              </a:rPr>
              <a:t>RESULTS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443528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0E35-C1FC-811D-B08B-160505D5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58E82D49-7525-33F3-40A3-525C8318D56C}"/>
              </a:ext>
            </a:extLst>
          </p:cNvPr>
          <p:cNvSpPr/>
          <p:nvPr/>
        </p:nvSpPr>
        <p:spPr>
          <a:xfrm>
            <a:off x="769545" y="78484"/>
            <a:ext cx="7445400" cy="62517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EDA Visualization (Distribution &amp; Trends)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B41EB-B5C5-D800-1600-4B85A376EA31}"/>
              </a:ext>
            </a:extLst>
          </p:cNvPr>
          <p:cNvSpPr txBox="1"/>
          <p:nvPr/>
        </p:nvSpPr>
        <p:spPr>
          <a:xfrm>
            <a:off x="82476" y="5195812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9</a:t>
            </a:r>
            <a:r>
              <a:rPr lang="en-US" b="1" dirty="0"/>
              <a:t>: Distribution of the Target Variable (Y) and percentage subscribed to the term deposit.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A2EF3C-1F4D-0B5A-09D3-A240509B6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87" y="1131684"/>
            <a:ext cx="5152970" cy="420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67DB537-1F1D-0B73-C1A7-B458D8466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691" y="986415"/>
            <a:ext cx="3764309" cy="372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927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B49D-4B8C-AFC4-9C23-48C7C510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0BC3D5E5-7F30-59C9-03CB-E6F83F8BCC8A}"/>
              </a:ext>
            </a:extLst>
          </p:cNvPr>
          <p:cNvSpPr/>
          <p:nvPr/>
        </p:nvSpPr>
        <p:spPr>
          <a:xfrm>
            <a:off x="1137285" y="51326"/>
            <a:ext cx="5942525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28BCB-5C7D-7B22-02DC-5D887AFFE769}"/>
              </a:ext>
            </a:extLst>
          </p:cNvPr>
          <p:cNvSpPr txBox="1"/>
          <p:nvPr/>
        </p:nvSpPr>
        <p:spPr>
          <a:xfrm>
            <a:off x="138629" y="674157"/>
            <a:ext cx="8819536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50" dirty="0">
                <a:solidFill>
                  <a:srgbClr val="FF0000"/>
                </a:solidFill>
              </a:rPr>
              <a:t> </a:t>
            </a:r>
            <a:r>
              <a:rPr lang="en-US" sz="1850" dirty="0"/>
              <a:t>Highest term deposit subscribers: </a:t>
            </a:r>
          </a:p>
          <a:p>
            <a:pPr marL="457200" indent="-457200" algn="just">
              <a:buAutoNum type="arabicPeriod"/>
            </a:pPr>
            <a:r>
              <a:rPr lang="en-US" sz="1850" dirty="0"/>
              <a:t>60+ years </a:t>
            </a:r>
          </a:p>
          <a:p>
            <a:pPr marL="457200" indent="-457200" algn="just">
              <a:buAutoNum type="arabicPeriod"/>
            </a:pPr>
            <a:r>
              <a:rPr lang="en-US" sz="1850" dirty="0"/>
              <a:t>25-40 years </a:t>
            </a:r>
          </a:p>
          <a:p>
            <a:pPr algn="just"/>
            <a:r>
              <a:rPr lang="en-US" sz="1850" dirty="0"/>
              <a:t>Clients aged 60 years and above are more likely to subscribe to the term deposit, followed by clients in the 25-40 years age bracket.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C84E2-9AD4-0089-A295-AC1A9062988F}"/>
              </a:ext>
            </a:extLst>
          </p:cNvPr>
          <p:cNvSpPr txBox="1"/>
          <p:nvPr/>
        </p:nvSpPr>
        <p:spPr>
          <a:xfrm>
            <a:off x="145851" y="5924672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10</a:t>
            </a:r>
            <a:r>
              <a:rPr lang="en-US" b="1" dirty="0"/>
              <a:t>: Subscription Rates by Age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ECD1C2-4F07-21D5-98D3-5ED95438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58" y="2187322"/>
            <a:ext cx="7174290" cy="43326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58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1056-1FFA-2930-E070-DED41B92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682C4500-1345-1D08-291D-3953E1ED8D1B}"/>
              </a:ext>
            </a:extLst>
          </p:cNvPr>
          <p:cNvSpPr/>
          <p:nvPr/>
        </p:nvSpPr>
        <p:spPr>
          <a:xfrm>
            <a:off x="1115251" y="51326"/>
            <a:ext cx="6203085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948F6-F411-C257-D148-98729291FEAD}"/>
              </a:ext>
            </a:extLst>
          </p:cNvPr>
          <p:cNvSpPr txBox="1"/>
          <p:nvPr/>
        </p:nvSpPr>
        <p:spPr>
          <a:xfrm>
            <a:off x="324464" y="671339"/>
            <a:ext cx="8351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Students, singles, and highly educated (tertiary) clients showed higher subscription rates, while loan holders were less likely to subscribe.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F6AE51-5026-1D67-4FE4-D14078272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5" y="1359203"/>
            <a:ext cx="6466287" cy="486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9526B1-44C7-1856-54E9-DB4FEC0C5C67}"/>
              </a:ext>
            </a:extLst>
          </p:cNvPr>
          <p:cNvSpPr txBox="1"/>
          <p:nvPr/>
        </p:nvSpPr>
        <p:spPr>
          <a:xfrm>
            <a:off x="145851" y="5780030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11</a:t>
            </a:r>
            <a:r>
              <a:rPr lang="en-US" b="1" dirty="0"/>
              <a:t>: Subscription Rates by Job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779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1056-1FFA-2930-E070-DED41B92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682C4500-1345-1D08-291D-3953E1ED8D1B}"/>
              </a:ext>
            </a:extLst>
          </p:cNvPr>
          <p:cNvSpPr/>
          <p:nvPr/>
        </p:nvSpPr>
        <p:spPr>
          <a:xfrm>
            <a:off x="1115251" y="51326"/>
            <a:ext cx="6203085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948F6-F411-C257-D148-98729291FEAD}"/>
              </a:ext>
            </a:extLst>
          </p:cNvPr>
          <p:cNvSpPr txBox="1"/>
          <p:nvPr/>
        </p:nvSpPr>
        <p:spPr>
          <a:xfrm>
            <a:off x="72925" y="671339"/>
            <a:ext cx="89981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dirty="0"/>
              <a:t>Single clients shows higher subscription rates compared to married or divorced clients. Single individuals are more likely to subscribe, possibly due to fewer financial dependencies and greater flexibility in decision-making.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526B1-44C7-1856-54E9-DB4FEC0C5C67}"/>
              </a:ext>
            </a:extLst>
          </p:cNvPr>
          <p:cNvSpPr txBox="1"/>
          <p:nvPr/>
        </p:nvSpPr>
        <p:spPr>
          <a:xfrm>
            <a:off x="72925" y="5878947"/>
            <a:ext cx="4499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12</a:t>
            </a:r>
            <a:r>
              <a:rPr lang="en-US" b="1" dirty="0"/>
              <a:t>: Subscription Rates by Marital status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5F8DD03-F76E-4634-8CDB-3A82EDA73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38" y="1629173"/>
            <a:ext cx="6701698" cy="482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910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A174-163F-3A28-C664-269621B2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BE75FD34-493B-4AB5-3B32-66E1C5DD3120}"/>
              </a:ext>
            </a:extLst>
          </p:cNvPr>
          <p:cNvSpPr/>
          <p:nvPr/>
        </p:nvSpPr>
        <p:spPr>
          <a:xfrm>
            <a:off x="1093217" y="15150"/>
            <a:ext cx="6221982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2A46C-D478-5442-5EDC-37229BA4F078}"/>
              </a:ext>
            </a:extLst>
          </p:cNvPr>
          <p:cNvSpPr txBox="1"/>
          <p:nvPr/>
        </p:nvSpPr>
        <p:spPr>
          <a:xfrm>
            <a:off x="0" y="5627158"/>
            <a:ext cx="899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Fig. 13</a:t>
            </a:r>
            <a:r>
              <a:rPr lang="en-US" sz="2000" b="1" dirty="0"/>
              <a:t>: Subscription Rates by Marital status and Education level 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04D80-C4F2-05A5-CB8F-8C51E014E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97" y="940802"/>
            <a:ext cx="8807148" cy="4968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160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0638-B94C-A6C0-1BB9-A196755A4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D48B8A41-4F78-E2AC-EBD8-D33E7505E8A6}"/>
              </a:ext>
            </a:extLst>
          </p:cNvPr>
          <p:cNvSpPr/>
          <p:nvPr/>
        </p:nvSpPr>
        <p:spPr>
          <a:xfrm>
            <a:off x="1137285" y="68418"/>
            <a:ext cx="6100797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13CA3-739D-27A0-D0BC-86EC797F5E3B}"/>
              </a:ext>
            </a:extLst>
          </p:cNvPr>
          <p:cNvSpPr txBox="1"/>
          <p:nvPr/>
        </p:nvSpPr>
        <p:spPr>
          <a:xfrm>
            <a:off x="204185" y="5847679"/>
            <a:ext cx="899814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1900" b="1" dirty="0">
                <a:solidFill>
                  <a:srgbClr val="FF0000"/>
                </a:solidFill>
              </a:rPr>
              <a:t>Fig. 14</a:t>
            </a:r>
            <a:r>
              <a:rPr lang="en-US" sz="1900" b="1" dirty="0"/>
              <a:t>: Subscription Rates by Default</a:t>
            </a:r>
            <a:endParaRPr lang="en-US" sz="19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A5D81-1244-403B-1D5E-4D02F1D82C31}"/>
              </a:ext>
            </a:extLst>
          </p:cNvPr>
          <p:cNvSpPr txBox="1"/>
          <p:nvPr/>
        </p:nvSpPr>
        <p:spPr>
          <a:xfrm>
            <a:off x="324463" y="703788"/>
            <a:ext cx="89981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Financial Indicators: </a:t>
            </a:r>
            <a:r>
              <a:rPr lang="en-US" dirty="0"/>
              <a:t>Loans reduce subscription likelihood, so, Clients without loans may have free income to save. Clients are more likely to subscribe if they: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Have no defaults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Have no loans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Maintain higher</a:t>
            </a:r>
          </a:p>
          <a:p>
            <a:r>
              <a:rPr lang="en-US" dirty="0"/>
              <a:t> account balances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0CF420-FFAA-3F12-8C37-93DFFE76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827" y="1714408"/>
            <a:ext cx="6725467" cy="462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030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7CC8-C457-F817-EAA3-1F3D9FC8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98726EBC-BC53-1FAB-3443-3950A95AC7F2}"/>
              </a:ext>
            </a:extLst>
          </p:cNvPr>
          <p:cNvSpPr/>
          <p:nvPr/>
        </p:nvSpPr>
        <p:spPr>
          <a:xfrm>
            <a:off x="1137285" y="68418"/>
            <a:ext cx="6100797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A1F05-8597-18F0-6A0B-F88504892C03}"/>
              </a:ext>
            </a:extLst>
          </p:cNvPr>
          <p:cNvSpPr txBox="1"/>
          <p:nvPr/>
        </p:nvSpPr>
        <p:spPr>
          <a:xfrm>
            <a:off x="276969" y="4412632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15</a:t>
            </a:r>
            <a:r>
              <a:rPr lang="en-US" b="1" dirty="0"/>
              <a:t>: Subscription Rates by Housing and Loan status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82D6EB-6F3E-52DE-4119-A729F0C2E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" y="1184713"/>
            <a:ext cx="4823307" cy="3316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F25E20-4FD7-93EA-1AEB-04B6AA452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555" y="1464590"/>
            <a:ext cx="4287608" cy="294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951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B5F9-1B55-9A66-3E9E-5BC61185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9256FA20-EC17-E2B6-3234-2BE689FAE086}"/>
              </a:ext>
            </a:extLst>
          </p:cNvPr>
          <p:cNvSpPr/>
          <p:nvPr/>
        </p:nvSpPr>
        <p:spPr>
          <a:xfrm>
            <a:off x="1137285" y="68418"/>
            <a:ext cx="6100797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61EDA-6FB0-1CA4-CA09-F57DABCC99A7}"/>
              </a:ext>
            </a:extLst>
          </p:cNvPr>
          <p:cNvSpPr txBox="1"/>
          <p:nvPr/>
        </p:nvSpPr>
        <p:spPr>
          <a:xfrm>
            <a:off x="188193" y="5797140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16</a:t>
            </a:r>
            <a:r>
              <a:rPr lang="en-US" b="1" dirty="0"/>
              <a:t>: Subscription Rates by Balance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35914-6621-2C22-F1A0-53FB80CDF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35" y="1976973"/>
            <a:ext cx="7496175" cy="43797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8ED473-86A0-0844-179A-11805B1E9CF6}"/>
              </a:ext>
            </a:extLst>
          </p:cNvPr>
          <p:cNvSpPr txBox="1"/>
          <p:nvPr/>
        </p:nvSpPr>
        <p:spPr>
          <a:xfrm>
            <a:off x="324463" y="703788"/>
            <a:ext cx="89981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b="1" dirty="0"/>
              <a:t>Balance: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Higher balances suggest higher subscription rates; therefore, customers with 	negative balances are the least likely to subscribe.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This confirms that financial capacity is a strong predictor of term deposit subscription.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468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8CCB-B035-280D-72D1-9BF16F1A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F0AECC0F-EE45-726D-56BB-30792A60E7C1}"/>
              </a:ext>
            </a:extLst>
          </p:cNvPr>
          <p:cNvSpPr/>
          <p:nvPr/>
        </p:nvSpPr>
        <p:spPr>
          <a:xfrm>
            <a:off x="1137285" y="68418"/>
            <a:ext cx="6100797" cy="529441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SEGMENTATION ANALYSIS CONT’D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2B1BC-C67C-A3D1-5B4E-C38844DD0E5E}"/>
              </a:ext>
            </a:extLst>
          </p:cNvPr>
          <p:cNvSpPr txBox="1"/>
          <p:nvPr/>
        </p:nvSpPr>
        <p:spPr>
          <a:xfrm>
            <a:off x="120089" y="755454"/>
            <a:ext cx="899814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</a:rPr>
              <a:t>Pdays</a:t>
            </a:r>
            <a:r>
              <a:rPr lang="en-US" sz="2000" b="1" dirty="0">
                <a:solidFill>
                  <a:srgbClr val="002060"/>
                </a:solidFill>
              </a:rPr>
              <a:t>: </a:t>
            </a:r>
            <a:r>
              <a:rPr lang="en-US" dirty="0"/>
              <a:t>The more recently a client is contacted, the higher the chance they will subscribe.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Lower </a:t>
            </a:r>
            <a:r>
              <a:rPr lang="en-US" b="1" dirty="0" err="1"/>
              <a:t>Pdays</a:t>
            </a:r>
            <a:r>
              <a:rPr lang="en-US" b="1" dirty="0"/>
              <a:t>: </a:t>
            </a:r>
            <a:r>
              <a:rPr lang="en-US" dirty="0"/>
              <a:t>Customers who were contacted more recently are more likely to subscribe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/>
              <a:t>Higher </a:t>
            </a:r>
            <a:r>
              <a:rPr lang="en-US" b="1" dirty="0" err="1"/>
              <a:t>Pdays</a:t>
            </a:r>
            <a:r>
              <a:rPr lang="en-US" b="1" dirty="0"/>
              <a:t>: </a:t>
            </a:r>
            <a:r>
              <a:rPr lang="en-US" dirty="0"/>
              <a:t>Customers who have not been contacted for a long time are less likely to subscribe.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/>
              <a:t>Customers never contacted: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less likely to convert possibly due to lack of awareness.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BD6D8D-83A5-4D6A-B674-C801B522D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578568"/>
              </p:ext>
            </p:extLst>
          </p:nvPr>
        </p:nvGraphicFramePr>
        <p:xfrm>
          <a:off x="211681" y="2783123"/>
          <a:ext cx="8636228" cy="37110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6211">
                  <a:extLst>
                    <a:ext uri="{9D8B030D-6E8A-4147-A177-3AD203B41FA5}">
                      <a16:colId xmlns:a16="http://schemas.microsoft.com/office/drawing/2014/main" val="1893303546"/>
                    </a:ext>
                  </a:extLst>
                </a:gridCol>
                <a:gridCol w="2911792">
                  <a:extLst>
                    <a:ext uri="{9D8B030D-6E8A-4147-A177-3AD203B41FA5}">
                      <a16:colId xmlns:a16="http://schemas.microsoft.com/office/drawing/2014/main" val="298655301"/>
                    </a:ext>
                  </a:extLst>
                </a:gridCol>
                <a:gridCol w="4978225">
                  <a:extLst>
                    <a:ext uri="{9D8B030D-6E8A-4147-A177-3AD203B41FA5}">
                      <a16:colId xmlns:a16="http://schemas.microsoft.com/office/drawing/2014/main" val="1110185685"/>
                    </a:ext>
                  </a:extLst>
                </a:gridCol>
              </a:tblGrid>
              <a:tr h="57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700" kern="100">
                          <a:effectLst/>
                        </a:rPr>
                        <a:t>S/N</a:t>
                      </a:r>
                      <a:endParaRPr lang="en-GB" sz="2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700" kern="100" dirty="0" err="1">
                          <a:effectLst/>
                        </a:rPr>
                        <a:t>Pdays</a:t>
                      </a:r>
                      <a:r>
                        <a:rPr lang="en-US" sz="2700" kern="100" dirty="0">
                          <a:effectLst/>
                        </a:rPr>
                        <a:t> Range</a:t>
                      </a:r>
                      <a:endParaRPr lang="en-GB" sz="2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700" kern="100" dirty="0">
                          <a:effectLst/>
                        </a:rPr>
                        <a:t>Expected Subscription Trend</a:t>
                      </a:r>
                      <a:endParaRPr lang="en-GB" sz="2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2187094"/>
                  </a:ext>
                </a:extLst>
              </a:tr>
              <a:tr h="57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0–7 days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Very high conversion – extremely warm leads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2880610"/>
                  </a:ext>
                </a:extLst>
              </a:tr>
              <a:tr h="57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8–30 days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Strong performance – still engaged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3715905"/>
                  </a:ext>
                </a:extLst>
              </a:tr>
              <a:tr h="57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31–90 days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Moderate conversion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3834222"/>
                  </a:ext>
                </a:extLst>
              </a:tr>
              <a:tr h="57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91–365 days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Lower conversion – interest fades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6587949"/>
                  </a:ext>
                </a:extLst>
              </a:tr>
              <a:tr h="57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365+ days</a:t>
                      </a:r>
                      <a:endParaRPr lang="en-GB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Very low conversion</a:t>
                      </a:r>
                      <a:endParaRPr lang="en-GB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86386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93BDA9-2716-4000-9ABC-7243645FE1D4}"/>
              </a:ext>
            </a:extLst>
          </p:cNvPr>
          <p:cNvSpPr txBox="1"/>
          <p:nvPr/>
        </p:nvSpPr>
        <p:spPr>
          <a:xfrm>
            <a:off x="115882" y="2106015"/>
            <a:ext cx="89981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Table 3</a:t>
            </a:r>
            <a:r>
              <a:rPr lang="en-US" sz="2000" b="1" dirty="0"/>
              <a:t>: Subscription Rates by </a:t>
            </a:r>
            <a:r>
              <a:rPr lang="en-US" sz="2000" b="1" dirty="0" err="1"/>
              <a:t>Pdays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369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DC6F-752C-28B9-4D99-678BF2F8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AF74848A-E01C-F27E-49EE-5539347D1D8C}"/>
              </a:ext>
            </a:extLst>
          </p:cNvPr>
          <p:cNvSpPr/>
          <p:nvPr/>
        </p:nvSpPr>
        <p:spPr>
          <a:xfrm>
            <a:off x="1137285" y="68418"/>
            <a:ext cx="6100797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TEMPORAL TRENDS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1BCDE-AC03-757D-5992-982381892D2A}"/>
              </a:ext>
            </a:extLst>
          </p:cNvPr>
          <p:cNvSpPr txBox="1"/>
          <p:nvPr/>
        </p:nvSpPr>
        <p:spPr>
          <a:xfrm>
            <a:off x="74142" y="5928358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22</a:t>
            </a:r>
            <a:r>
              <a:rPr lang="en-US" b="1" dirty="0"/>
              <a:t>: Subscription Rates by Week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2DB11-68E5-4173-FD07-C81C173D3D83}"/>
              </a:ext>
            </a:extLst>
          </p:cNvPr>
          <p:cNvSpPr txBox="1"/>
          <p:nvPr/>
        </p:nvSpPr>
        <p:spPr>
          <a:xfrm>
            <a:off x="72925" y="604932"/>
            <a:ext cx="899814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Week</a:t>
            </a:r>
            <a:endParaRPr lang="en-US" sz="2000" dirty="0">
              <a:solidFill>
                <a:srgbClr val="00206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Best days: </a:t>
            </a:r>
            <a:r>
              <a:rPr lang="en-US" dirty="0"/>
              <a:t>Monday, Tuesday, Wednesday and Sunday. This are the best days to reach clients, because they may be more open to financial decisions at the start of the week.</a:t>
            </a:r>
          </a:p>
          <a:p>
            <a:pPr algn="just"/>
            <a:r>
              <a:rPr lang="en-US" dirty="0"/>
              <a:t>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Worst: </a:t>
            </a:r>
            <a:r>
              <a:rPr lang="en-US" dirty="0"/>
              <a:t>Friday, and Saturday. Possibly because it is a weekend and people are unwinding.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77B9E92-1089-ED3C-55D7-B3D14A90F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85" y="2145126"/>
            <a:ext cx="7611764" cy="437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43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9523-5AF2-1A02-38EB-6829F4DC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C9CDA361-8CC4-9E39-DCF2-DE9D1D2FFB54}"/>
              </a:ext>
            </a:extLst>
          </p:cNvPr>
          <p:cNvSpPr/>
          <p:nvPr/>
        </p:nvSpPr>
        <p:spPr>
          <a:xfrm>
            <a:off x="707923" y="44244"/>
            <a:ext cx="6544908" cy="568315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TEMPORAL TRENDS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0DADD-D42F-CFE7-3871-B5EB9EB36348}"/>
              </a:ext>
            </a:extLst>
          </p:cNvPr>
          <p:cNvSpPr txBox="1"/>
          <p:nvPr/>
        </p:nvSpPr>
        <p:spPr>
          <a:xfrm>
            <a:off x="46149" y="5899940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18</a:t>
            </a:r>
            <a:r>
              <a:rPr lang="en-US" b="1" dirty="0"/>
              <a:t>: Subscription Rates by Month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FA07DF-8F68-6A8D-ECD5-4A1C2E9512D6}"/>
              </a:ext>
            </a:extLst>
          </p:cNvPr>
          <p:cNvSpPr txBox="1"/>
          <p:nvPr/>
        </p:nvSpPr>
        <p:spPr>
          <a:xfrm>
            <a:off x="90392" y="675629"/>
            <a:ext cx="89981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Month: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Best months: </a:t>
            </a:r>
            <a:r>
              <a:rPr lang="en-US" dirty="0"/>
              <a:t>March, September, October, December. This could be due to seasonal effect, maybe March is tax refund season or bonuses; or it may be linked to vacation planning.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Worst:</a:t>
            </a:r>
            <a:r>
              <a:rPr lang="en-US" dirty="0"/>
              <a:t> May. This may be due to lower receptiveness, or less strategic timing.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3CC2EF-39C6-E052-FF5C-A0F038BE15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2" y="2151602"/>
            <a:ext cx="8944595" cy="436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89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0F4D-6B70-278E-D1EB-EE61E9E1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1A7C29E1-6378-2A6F-7F4C-B0F9F4127995}"/>
              </a:ext>
            </a:extLst>
          </p:cNvPr>
          <p:cNvSpPr/>
          <p:nvPr/>
        </p:nvSpPr>
        <p:spPr>
          <a:xfrm>
            <a:off x="707923" y="44244"/>
            <a:ext cx="6544908" cy="646898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CUSTOMER PROFILING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B79C6-7E16-BE5C-E307-886AE7355D29}"/>
              </a:ext>
            </a:extLst>
          </p:cNvPr>
          <p:cNvSpPr txBox="1"/>
          <p:nvPr/>
        </p:nvSpPr>
        <p:spPr>
          <a:xfrm>
            <a:off x="251708" y="371525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Table 4</a:t>
            </a:r>
            <a:r>
              <a:rPr lang="en-US" b="1" dirty="0"/>
              <a:t>: </a:t>
            </a:r>
            <a:r>
              <a:rPr lang="en-GB" b="1" dirty="0"/>
              <a:t>High-Value and Low-Value Customer Segments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F8A4A2-3768-40BA-8E88-B82E72725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01091"/>
              </p:ext>
            </p:extLst>
          </p:nvPr>
        </p:nvGraphicFramePr>
        <p:xfrm>
          <a:off x="294577" y="1272388"/>
          <a:ext cx="8562203" cy="52545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4801">
                  <a:extLst>
                    <a:ext uri="{9D8B030D-6E8A-4147-A177-3AD203B41FA5}">
                      <a16:colId xmlns:a16="http://schemas.microsoft.com/office/drawing/2014/main" val="2145467921"/>
                    </a:ext>
                  </a:extLst>
                </a:gridCol>
                <a:gridCol w="3435772">
                  <a:extLst>
                    <a:ext uri="{9D8B030D-6E8A-4147-A177-3AD203B41FA5}">
                      <a16:colId xmlns:a16="http://schemas.microsoft.com/office/drawing/2014/main" val="4287088343"/>
                    </a:ext>
                  </a:extLst>
                </a:gridCol>
                <a:gridCol w="2911630">
                  <a:extLst>
                    <a:ext uri="{9D8B030D-6E8A-4147-A177-3AD203B41FA5}">
                      <a16:colId xmlns:a16="http://schemas.microsoft.com/office/drawing/2014/main" val="2324803166"/>
                    </a:ext>
                  </a:extLst>
                </a:gridCol>
              </a:tblGrid>
              <a:tr h="2508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Feature</a:t>
                      </a:r>
                      <a:endParaRPr lang="en-GB" sz="1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Clients</a:t>
                      </a:r>
                      <a:endParaRPr lang="en-GB" sz="1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Description </a:t>
                      </a:r>
                      <a:endParaRPr lang="en-GB" sz="1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5782485"/>
                  </a:ext>
                </a:extLst>
              </a:tr>
              <a:tr h="250877">
                <a:tc rowSpan="8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High-Value Segments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Student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Shows high subscription rate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4957473"/>
                  </a:ext>
                </a:extLst>
              </a:tr>
              <a:tr h="2508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Retired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899934"/>
                  </a:ext>
                </a:extLst>
              </a:tr>
              <a:tr h="2508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Singles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39458"/>
                  </a:ext>
                </a:extLst>
              </a:tr>
              <a:tr h="2508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Tertiary-educated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974293"/>
                  </a:ext>
                </a:extLst>
              </a:tr>
              <a:tr h="34362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5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loan/default history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6096687"/>
                  </a:ext>
                </a:extLst>
              </a:tr>
              <a:tr h="250877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5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Contacted recently (7–30 days) via cellular (mobile)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100356"/>
                  </a:ext>
                </a:extLst>
              </a:tr>
              <a:tr h="260435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5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Contacted in March/September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7712932"/>
                  </a:ext>
                </a:extLst>
              </a:tr>
              <a:tr h="78384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5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Called early in the week (Sun, Mon, Tue, and Wed) and in (May, or September) month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7001826"/>
                  </a:ext>
                </a:extLst>
              </a:tr>
              <a:tr h="250877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Low-Value Segments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Blue-collar  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Tend to have lower response rates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4850806"/>
                  </a:ext>
                </a:extLst>
              </a:tr>
              <a:tr h="51736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Married + low education (primary)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087818"/>
                  </a:ext>
                </a:extLst>
              </a:tr>
              <a:tr h="51736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50" kern="100" dirty="0">
                          <a:effectLst/>
                        </a:rPr>
                        <a:t>Clients with multiple loans </a:t>
                      </a:r>
                      <a:endParaRPr lang="en-GB" sz="16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287209"/>
                  </a:ext>
                </a:extLst>
              </a:tr>
              <a:tr h="51736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5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Negative account balances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048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120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0F4D-6B70-278E-D1EB-EE61E9E1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1A7C29E1-6378-2A6F-7F4C-B0F9F4127995}"/>
              </a:ext>
            </a:extLst>
          </p:cNvPr>
          <p:cNvSpPr/>
          <p:nvPr/>
        </p:nvSpPr>
        <p:spPr>
          <a:xfrm>
            <a:off x="707923" y="44244"/>
            <a:ext cx="6544908" cy="538057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CUSTOMER PROFILING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B79C6-7E16-BE5C-E307-886AE7355D29}"/>
              </a:ext>
            </a:extLst>
          </p:cNvPr>
          <p:cNvSpPr txBox="1"/>
          <p:nvPr/>
        </p:nvSpPr>
        <p:spPr>
          <a:xfrm rot="16200000">
            <a:off x="-2750707" y="3109979"/>
            <a:ext cx="6035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19</a:t>
            </a:r>
            <a:r>
              <a:rPr lang="en-US" b="1" dirty="0"/>
              <a:t>:</a:t>
            </a:r>
            <a:r>
              <a:rPr lang="en-GB" b="1" dirty="0"/>
              <a:t> High-Value and Low-Value Customer Segments by Job  and Financial status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D9AAC0-ADA8-4D13-9ADF-39620BBBA15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09" y="692623"/>
            <a:ext cx="7074009" cy="313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9EE9045-684C-40E3-A6CA-25EF4E70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51" y="3941621"/>
            <a:ext cx="6981236" cy="294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82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873C-AF87-9E8E-E6C4-1C049BB5B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16C2F870-FC4A-20C6-2A0F-CD61C9FACDDA}"/>
              </a:ext>
            </a:extLst>
          </p:cNvPr>
          <p:cNvSpPr/>
          <p:nvPr/>
        </p:nvSpPr>
        <p:spPr>
          <a:xfrm>
            <a:off x="716692" y="6633"/>
            <a:ext cx="6697362" cy="578480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CONTACT STRATEGY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55794-5A67-A046-5F5D-61050FFA50D0}"/>
              </a:ext>
            </a:extLst>
          </p:cNvPr>
          <p:cNvSpPr txBox="1"/>
          <p:nvPr/>
        </p:nvSpPr>
        <p:spPr>
          <a:xfrm>
            <a:off x="72925" y="5928359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23</a:t>
            </a:r>
            <a:r>
              <a:rPr lang="en-US" b="1" dirty="0"/>
              <a:t>: Subscription Rates by Call Duration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5EF061-1183-B69B-9F5C-8CB1A67A99A1}"/>
              </a:ext>
            </a:extLst>
          </p:cNvPr>
          <p:cNvSpPr txBox="1"/>
          <p:nvPr/>
        </p:nvSpPr>
        <p:spPr>
          <a:xfrm>
            <a:off x="129328" y="580218"/>
            <a:ext cx="899814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DURATION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/>
              <a:t>Long calls (&gt;4–8 minutes): </a:t>
            </a:r>
            <a:r>
              <a:rPr lang="en-US" sz="1600" dirty="0"/>
              <a:t>Customers who engaged in longer conversations are more likely to convert, ask questions, receive explanations, and ultimately say "</a:t>
            </a:r>
            <a:r>
              <a:rPr lang="en-US" sz="1600" b="1" dirty="0"/>
              <a:t>yes</a:t>
            </a:r>
            <a:r>
              <a:rPr lang="en-US" sz="1600" dirty="0"/>
              <a:t>". </a:t>
            </a:r>
          </a:p>
          <a:p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/>
              <a:t>Short calls (&lt;1 minute) rarely convert. </a:t>
            </a:r>
            <a:r>
              <a:rPr lang="en-US" sz="1600" dirty="0"/>
              <a:t>Quick calls often indicate disinterest, busy customers, or early termination ("</a:t>
            </a:r>
            <a:r>
              <a:rPr lang="en-US" sz="1600" b="1" dirty="0"/>
              <a:t>not now</a:t>
            </a:r>
            <a:r>
              <a:rPr lang="en-US" sz="1600" dirty="0"/>
              <a:t>", "</a:t>
            </a:r>
            <a:r>
              <a:rPr lang="en-US" sz="1600" b="1" dirty="0"/>
              <a:t>don't call again</a:t>
            </a:r>
            <a:r>
              <a:rPr lang="en-US" sz="1600" dirty="0"/>
              <a:t>").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2F218-C38C-A642-A681-487035FD6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05" y="2238757"/>
            <a:ext cx="7535278" cy="4325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5853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B2CD-ED39-D113-640E-0E5DA1DA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A9CB214D-7A62-FF9E-0EC1-8E13F30C381D}"/>
              </a:ext>
            </a:extLst>
          </p:cNvPr>
          <p:cNvSpPr/>
          <p:nvPr/>
        </p:nvSpPr>
        <p:spPr>
          <a:xfrm>
            <a:off x="791291" y="0"/>
            <a:ext cx="7339450" cy="646898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CONTACT STRATEGY EVALUATION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48C7C-427D-AC6A-D848-8E059B25BAEE}"/>
              </a:ext>
            </a:extLst>
          </p:cNvPr>
          <p:cNvSpPr txBox="1"/>
          <p:nvPr/>
        </p:nvSpPr>
        <p:spPr>
          <a:xfrm>
            <a:off x="46149" y="5814871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24</a:t>
            </a:r>
            <a:r>
              <a:rPr lang="en-US" b="1" dirty="0"/>
              <a:t>: Subscription Rates by </a:t>
            </a:r>
            <a:r>
              <a:rPr lang="en-US" b="1" dirty="0" err="1"/>
              <a:t>Poutcome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48F4D-3A20-8CA4-8877-7583BD0E10AA}"/>
              </a:ext>
            </a:extLst>
          </p:cNvPr>
          <p:cNvSpPr txBox="1"/>
          <p:nvPr/>
        </p:nvSpPr>
        <p:spPr>
          <a:xfrm>
            <a:off x="72925" y="646898"/>
            <a:ext cx="899814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POUTCOME</a:t>
            </a:r>
            <a:endParaRPr lang="en-US" sz="2000" dirty="0">
              <a:solidFill>
                <a:srgbClr val="00206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/>
              <a:t>Success: </a:t>
            </a:r>
            <a:r>
              <a:rPr lang="en-US" sz="1600" dirty="0"/>
              <a:t>Customers with a previous success outcome would be much more likely to subscribe again.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/>
              <a:t>Other: </a:t>
            </a:r>
            <a:r>
              <a:rPr lang="en-US" sz="1600" dirty="0"/>
              <a:t>This group indicates unclear history; mixed results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/>
              <a:t>Failure: </a:t>
            </a:r>
            <a:r>
              <a:rPr lang="en-US" sz="1600" dirty="0"/>
              <a:t>Customers with failure rarely convert, regardless of duration or effort.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FF0000"/>
                </a:solidFill>
              </a:rPr>
              <a:t>  </a:t>
            </a:r>
            <a:r>
              <a:rPr lang="en-US" sz="1600" b="1" dirty="0"/>
              <a:t>Unknown: </a:t>
            </a:r>
            <a:r>
              <a:rPr lang="en-US" sz="1600" dirty="0"/>
              <a:t>Indicates a lack of prior engagement but they may require longer calls to convert.</a:t>
            </a:r>
          </a:p>
          <a:p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A4704A8-266A-3F9D-ADDD-F73D74DE9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664" y="2324435"/>
            <a:ext cx="7182852" cy="4065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887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781665" y="-12032"/>
            <a:ext cx="7435903" cy="59029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CONTACT STRATEGY EVALUATION CONT’D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DFF59-5D61-6D9B-8B6E-9FA8600B77A9}"/>
              </a:ext>
            </a:extLst>
          </p:cNvPr>
          <p:cNvSpPr txBox="1"/>
          <p:nvPr/>
        </p:nvSpPr>
        <p:spPr>
          <a:xfrm>
            <a:off x="72925" y="5960084"/>
            <a:ext cx="8998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26</a:t>
            </a:r>
            <a:r>
              <a:rPr lang="en-US" b="1" dirty="0"/>
              <a:t>: Subscription Rates by Contact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566238"/>
            <a:ext cx="89981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/>
              <a:t>Contact-Related Insights: </a:t>
            </a:r>
            <a:r>
              <a:rPr lang="en-US" dirty="0"/>
              <a:t>Cellular contact yields higher conversion than </a:t>
            </a:r>
            <a:r>
              <a:rPr lang="en-US" b="1" dirty="0"/>
              <a:t>telephone</a:t>
            </a:r>
            <a:r>
              <a:rPr lang="en-US" dirty="0"/>
              <a:t> indicating that mobile outreach works well. 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Unknown: </a:t>
            </a:r>
            <a:r>
              <a:rPr lang="en-US" dirty="0"/>
              <a:t>equal low subscription connoting missing data, but confirms direct cellular contact is more effective than older landline methods.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D5B7F7-C242-B3B4-C4FC-78B740C2B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537" y="1992386"/>
            <a:ext cx="6297036" cy="459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7768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1491448" y="0"/>
            <a:ext cx="5255581" cy="409585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CORRELATION ANALYSIS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409585"/>
            <a:ext cx="89981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b="1" dirty="0"/>
              <a:t>Strong Correlation: </a:t>
            </a:r>
            <a:r>
              <a:rPr lang="en-GB" b="1" dirty="0" err="1">
                <a:solidFill>
                  <a:srgbClr val="7030A0"/>
                </a:solidFill>
              </a:rPr>
              <a:t>Pdays</a:t>
            </a:r>
            <a:r>
              <a:rPr lang="en-GB" dirty="0"/>
              <a:t> and </a:t>
            </a:r>
            <a:r>
              <a:rPr lang="en-GB" b="1" dirty="0">
                <a:solidFill>
                  <a:srgbClr val="7030A0"/>
                </a:solidFill>
              </a:rPr>
              <a:t>Previous</a:t>
            </a:r>
            <a:r>
              <a:rPr lang="en-GB" dirty="0"/>
              <a:t> are the strongest correlation in the matrix. It means that customers who were contacted previously (Previous) tend to have been contacted more recently (</a:t>
            </a:r>
            <a:r>
              <a:rPr lang="en-GB" dirty="0" err="1"/>
              <a:t>Pdays</a:t>
            </a:r>
            <a:r>
              <a:rPr lang="en-GB" dirty="0"/>
              <a:t>) in previous marketing campaigns. 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Weak Correlation: </a:t>
            </a:r>
            <a:r>
              <a:rPr lang="en-GB" dirty="0"/>
              <a:t>Overall, most numerical variables exhibit very weak correlations with coefficient close to </a:t>
            </a:r>
            <a:r>
              <a:rPr lang="en-GB" b="1" dirty="0"/>
              <a:t>0</a:t>
            </a:r>
            <a:r>
              <a:rPr lang="en-GB" dirty="0"/>
              <a:t> indicating they are independent of one another. </a:t>
            </a:r>
            <a:r>
              <a:rPr lang="en-GB" b="1" dirty="0">
                <a:solidFill>
                  <a:srgbClr val="7030A0"/>
                </a:solidFill>
              </a:rPr>
              <a:t>Age</a:t>
            </a:r>
            <a:r>
              <a:rPr lang="en-GB" dirty="0"/>
              <a:t> and </a:t>
            </a:r>
            <a:r>
              <a:rPr lang="en-GB" b="1" dirty="0">
                <a:solidFill>
                  <a:srgbClr val="7030A0"/>
                </a:solidFill>
              </a:rPr>
              <a:t>Balance</a:t>
            </a:r>
            <a:r>
              <a:rPr lang="en-GB" dirty="0"/>
              <a:t> show a weak positive correlation (r=0.10), suggesting that older customers tend to have slightly higher account balances, although the relationship is negligible.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1E823CC-9E2B-4039-9585-F51A38687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98" y="2376057"/>
            <a:ext cx="6218068" cy="472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EEB51-EBAE-4768-A7A1-F1277E5F81B1}"/>
              </a:ext>
            </a:extLst>
          </p:cNvPr>
          <p:cNvSpPr txBox="1"/>
          <p:nvPr/>
        </p:nvSpPr>
        <p:spPr>
          <a:xfrm rot="16200000">
            <a:off x="-1772717" y="4142103"/>
            <a:ext cx="3845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Fig. 27</a:t>
            </a:r>
            <a:r>
              <a:rPr lang="en-US" b="1" dirty="0"/>
              <a:t>: </a:t>
            </a:r>
            <a:r>
              <a:rPr lang="en-US" dirty="0"/>
              <a:t>Correlation Matrix (Heatmap)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83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1118587" y="-23180"/>
            <a:ext cx="6667130" cy="509182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MODELLING RESULTS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748151"/>
            <a:ext cx="89981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Best Model: </a:t>
            </a:r>
            <a:r>
              <a:rPr lang="en-GB" dirty="0"/>
              <a:t>Random Forest (AUC = 0.85) SMOTE) achieved the best balance.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Top predictors: </a:t>
            </a:r>
            <a:r>
              <a:rPr lang="en-GB" dirty="0"/>
              <a:t>Duration, </a:t>
            </a:r>
            <a:r>
              <a:rPr lang="en-GB" dirty="0" err="1"/>
              <a:t>Poutcome</a:t>
            </a:r>
            <a:r>
              <a:rPr lang="en-GB" dirty="0"/>
              <a:t>, Balance, Age, Job.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Despite high accuracy, the AUC of 0.85 confirms the model has strong discriminative power between subscribers and non-subscribers.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 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Business Implication: </a:t>
            </a:r>
            <a:r>
              <a:rPr lang="en-GB" dirty="0"/>
              <a:t>The model can be used to score leads before outreach, prioritizing those with high predicted probability (e.g., retired, previously successful, high balance).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EEB51-EBAE-4768-A7A1-F1277E5F81B1}"/>
              </a:ext>
            </a:extLst>
          </p:cNvPr>
          <p:cNvSpPr txBox="1"/>
          <p:nvPr/>
        </p:nvSpPr>
        <p:spPr>
          <a:xfrm>
            <a:off x="206515" y="2146134"/>
            <a:ext cx="50401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Table 4</a:t>
            </a:r>
            <a:r>
              <a:rPr lang="en-US" sz="2000" b="1" dirty="0"/>
              <a:t>: </a:t>
            </a:r>
            <a:r>
              <a:rPr lang="en-US" sz="2000" dirty="0"/>
              <a:t>Modeling</a:t>
            </a:r>
            <a:endParaRPr 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B138E5-69B4-44A9-B0DD-43D24778D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845963"/>
              </p:ext>
            </p:extLst>
          </p:nvPr>
        </p:nvGraphicFramePr>
        <p:xfrm>
          <a:off x="277539" y="3122386"/>
          <a:ext cx="8588921" cy="33446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9189">
                  <a:extLst>
                    <a:ext uri="{9D8B030D-6E8A-4147-A177-3AD203B41FA5}">
                      <a16:colId xmlns:a16="http://schemas.microsoft.com/office/drawing/2014/main" val="1223012411"/>
                    </a:ext>
                  </a:extLst>
                </a:gridCol>
                <a:gridCol w="2427802">
                  <a:extLst>
                    <a:ext uri="{9D8B030D-6E8A-4147-A177-3AD203B41FA5}">
                      <a16:colId xmlns:a16="http://schemas.microsoft.com/office/drawing/2014/main" val="1461604748"/>
                    </a:ext>
                  </a:extLst>
                </a:gridCol>
                <a:gridCol w="1523601">
                  <a:extLst>
                    <a:ext uri="{9D8B030D-6E8A-4147-A177-3AD203B41FA5}">
                      <a16:colId xmlns:a16="http://schemas.microsoft.com/office/drawing/2014/main" val="1148792849"/>
                    </a:ext>
                  </a:extLst>
                </a:gridCol>
                <a:gridCol w="1624177">
                  <a:extLst>
                    <a:ext uri="{9D8B030D-6E8A-4147-A177-3AD203B41FA5}">
                      <a16:colId xmlns:a16="http://schemas.microsoft.com/office/drawing/2014/main" val="870033889"/>
                    </a:ext>
                  </a:extLst>
                </a:gridCol>
                <a:gridCol w="1154152">
                  <a:extLst>
                    <a:ext uri="{9D8B030D-6E8A-4147-A177-3AD203B41FA5}">
                      <a16:colId xmlns:a16="http://schemas.microsoft.com/office/drawing/2014/main" val="4067282820"/>
                    </a:ext>
                  </a:extLst>
                </a:gridCol>
              </a:tblGrid>
              <a:tr h="6803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Model 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Precision (Sensitivity)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Recall (Yes)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Accuracy 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ROC AUC</a:t>
                      </a:r>
                      <a:endParaRPr lang="en-GB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8564232"/>
                  </a:ext>
                </a:extLst>
              </a:tr>
              <a:tr h="7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Random Forest (SMOTE)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0.48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0.28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88%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0.85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588407"/>
                  </a:ext>
                </a:extLst>
              </a:tr>
              <a:tr h="574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Logistic Regression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0.43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0.29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87%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0.84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4117566"/>
                  </a:ext>
                </a:extLst>
              </a:tr>
              <a:tr h="6803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XGBoost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0.46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0.29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87%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0.85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9749847"/>
                  </a:ext>
                </a:extLst>
              </a:tr>
              <a:tr h="6803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Decision Tree 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0.27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0.33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81%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0.78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40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736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781665" y="-12032"/>
            <a:ext cx="7435903" cy="59029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MODELING RESULTS CONT’D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453969"/>
            <a:ext cx="899814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GB" b="1" dirty="0">
                <a:solidFill>
                  <a:srgbClr val="002060"/>
                </a:solidFill>
              </a:rPr>
              <a:t>Top 5 Most Important Features:</a:t>
            </a:r>
          </a:p>
          <a:p>
            <a:pPr algn="just"/>
            <a:endParaRPr lang="en-GB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Duration </a:t>
            </a:r>
            <a:r>
              <a:rPr lang="en-GB" dirty="0"/>
              <a:t>– Call length (strongest predictor)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 err="1"/>
              <a:t>Poutcome</a:t>
            </a:r>
            <a:r>
              <a:rPr lang="en-GB" dirty="0"/>
              <a:t> – Previous campaign result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Balance </a:t>
            </a:r>
            <a:r>
              <a:rPr lang="en-GB" dirty="0"/>
              <a:t>– Customer’s financial capacity (strongest predictor)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</a:t>
            </a:r>
            <a:r>
              <a:rPr lang="en-GB" b="1" dirty="0"/>
              <a:t>Age </a:t>
            </a:r>
            <a:r>
              <a:rPr lang="en-GB" dirty="0"/>
              <a:t>– Older customers likely more responsive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</a:t>
            </a:r>
            <a:r>
              <a:rPr lang="en-GB" b="1" dirty="0"/>
              <a:t>Job</a:t>
            </a:r>
            <a:r>
              <a:rPr lang="en-GB" dirty="0"/>
              <a:t> – Student, retired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b="1" dirty="0">
                <a:solidFill>
                  <a:srgbClr val="002060"/>
                </a:solidFill>
              </a:rPr>
              <a:t>Limitations</a:t>
            </a:r>
          </a:p>
          <a:p>
            <a:pPr algn="just"/>
            <a:endParaRPr lang="en-GB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 Imbalanced Data: </a:t>
            </a:r>
            <a:r>
              <a:rPr lang="en-GB" dirty="0"/>
              <a:t>Requires careful modelling to avoid bias toward "</a:t>
            </a:r>
            <a:r>
              <a:rPr lang="en-GB" b="1" dirty="0"/>
              <a:t>no</a:t>
            </a:r>
            <a:r>
              <a:rPr lang="en-GB" dirty="0"/>
              <a:t>".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/>
              <a:t>"Unknown" Values: </a:t>
            </a:r>
            <a:r>
              <a:rPr lang="en-GB" dirty="0"/>
              <a:t>Some fields (e.g., education, job) have missing data, potentially biasing  	results.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5426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781665" y="-12032"/>
            <a:ext cx="7435903" cy="59029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ETHICAL GUIDELINES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578261"/>
            <a:ext cx="899814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GB" b="1" dirty="0"/>
          </a:p>
          <a:p>
            <a:pPr algn="just"/>
            <a:r>
              <a:rPr lang="en-GB" dirty="0"/>
              <a:t>Ethical considerations are central to any data analytics project, particularly when working with customer information. 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The dataset contains no personally identifiable information (PII)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Methods such as SMOTE were used to reduce model bias toward the majority class 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No variables suggesting sensitive attributes (race, ethnicity, religion) were used</a:t>
            </a:r>
          </a:p>
          <a:p>
            <a:pPr algn="just"/>
            <a:endParaRPr lang="en-GB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 </a:t>
            </a:r>
            <a:r>
              <a:rPr lang="en-GB" dirty="0"/>
              <a:t>Care is taken to prevent discrimination based on non-relevant demographic attributes (e.g., age or marital status) when interpreting or applying insights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Results are communicated honestly, emphasizing limitations such as class imbalance. Model predictions are not presented as absolute truths but as supportive tools for decision-making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dirty="0"/>
          </a:p>
          <a:p>
            <a:pPr algn="just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4515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781665" y="76746"/>
            <a:ext cx="7435903" cy="59029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578261"/>
            <a:ext cx="899814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GB" dirty="0"/>
          </a:p>
          <a:p>
            <a:pPr algn="just"/>
            <a:r>
              <a:rPr lang="en-GB" dirty="0"/>
              <a:t>Customer behaviour varies strongly across demographic and financial segments. The analysis reveals: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Subscription rates are low (11.7%) and many customers were contacted via cellular method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Many clients were never contacted in previous campaigns (</a:t>
            </a:r>
            <a:r>
              <a:rPr lang="en-GB" dirty="0" err="1"/>
              <a:t>pdays</a:t>
            </a:r>
            <a:r>
              <a:rPr lang="en-GB" dirty="0"/>
              <a:t>=871)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Certain customer profiles, such as students and singles with tertiary education, shows high subscription likelihood.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March, September, October, and December are the most successful months for conversion, with Sunday, Monday, Tuesday, and Wednesday yielding the highest conversions.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Customers with a previous successful campaign outcome are prime targets for re-engagement.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 </a:t>
            </a:r>
            <a:r>
              <a:rPr lang="en-GB" dirty="0"/>
              <a:t>Call duration and past outcomes are critical behavioural predictors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Predictive models with AUC ~0.85 show strong classification capability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dirty="0"/>
          </a:p>
          <a:p>
            <a:pPr algn="just"/>
            <a:r>
              <a:rPr lang="en-GB" b="1" dirty="0">
                <a:solidFill>
                  <a:srgbClr val="002060"/>
                </a:solidFill>
              </a:rPr>
              <a:t>Ideal Target Customer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b="1" dirty="0">
              <a:solidFill>
                <a:srgbClr val="00206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Young students or retirees, singles, no loans, contacted recently via cellular preferably in March/September and on Sundays to Wednesdays, with past positive outcomes and long call engagement. </a:t>
            </a:r>
          </a:p>
        </p:txBody>
      </p:sp>
    </p:spTree>
    <p:extLst>
      <p:ext uri="{BB962C8B-B14F-4D97-AF65-F5344CB8AC3E}">
        <p14:creationId xmlns:p14="http://schemas.microsoft.com/office/powerpoint/2010/main" val="1953241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7BF1-379E-EDB7-EAE8-87A1BC06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689C49C-D546-66B1-528B-76629A2A4965}"/>
              </a:ext>
            </a:extLst>
          </p:cNvPr>
          <p:cNvSpPr/>
          <p:nvPr/>
        </p:nvSpPr>
        <p:spPr>
          <a:xfrm>
            <a:off x="746153" y="174401"/>
            <a:ext cx="7435903" cy="686733"/>
          </a:xfrm>
          <a:prstGeom prst="flowChartPunchedTap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RECOMMENDATION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705A-6C04-7CB6-5F63-2F713317221B}"/>
              </a:ext>
            </a:extLst>
          </p:cNvPr>
          <p:cNvSpPr txBox="1"/>
          <p:nvPr/>
        </p:nvSpPr>
        <p:spPr>
          <a:xfrm>
            <a:off x="72924" y="746946"/>
            <a:ext cx="899814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GB" dirty="0"/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Prioritize high-value customer segments for targeted outreach e.g., students, retirees, singles, higher education, and clients without loans.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Focus contact in high-performing months/days (Sun–Wed, March/Sept)</a:t>
            </a:r>
          </a:p>
          <a:p>
            <a:pPr algn="just"/>
            <a:endParaRPr lang="en-GB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 </a:t>
            </a:r>
            <a:r>
              <a:rPr lang="en-GB" dirty="0"/>
              <a:t>Improve agent training to increase call engagement duration 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 Use predictive models to rank and target high-</a:t>
            </a:r>
            <a:r>
              <a:rPr lang="en-GB" dirty="0" err="1"/>
              <a:t>probabaility</a:t>
            </a:r>
            <a:r>
              <a:rPr lang="en-GB" dirty="0"/>
              <a:t> leads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Prioritize cellular contacts over telephone calls, keeping calls concise yet engaging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Prioritize customers with previous successes through loyalty offers or personalized 	communication</a:t>
            </a:r>
          </a:p>
          <a:p>
            <a:pPr algn="just"/>
            <a:endParaRPr lang="en-GB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Reduce “</a:t>
            </a:r>
            <a:r>
              <a:rPr lang="en-GB" b="1" dirty="0"/>
              <a:t>unknown</a:t>
            </a:r>
            <a:r>
              <a:rPr lang="en-GB" dirty="0"/>
              <a:t>” values in attributes such as job, education, contact, and previous outcome (</a:t>
            </a:r>
            <a:r>
              <a:rPr lang="en-GB" dirty="0" err="1"/>
              <a:t>poutcome</a:t>
            </a:r>
            <a:r>
              <a:rPr lang="en-GB" dirty="0"/>
              <a:t>) by improving data collection processes.</a:t>
            </a:r>
          </a:p>
        </p:txBody>
      </p:sp>
    </p:spTree>
    <p:extLst>
      <p:ext uri="{BB962C8B-B14F-4D97-AF65-F5344CB8AC3E}">
        <p14:creationId xmlns:p14="http://schemas.microsoft.com/office/powerpoint/2010/main" val="2614422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8109</TotalTime>
  <Words>2301</Words>
  <Application>Microsoft Office PowerPoint</Application>
  <PresentationFormat>On-screen Show (4:3)</PresentationFormat>
  <Paragraphs>396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Times New Roman</vt:lpstr>
      <vt:lpstr>Wingdings</vt:lpstr>
      <vt:lpstr>Office Theme</vt:lpstr>
      <vt:lpstr>Bank Marketing Data Analysis &amp;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Data Analysis &amp; Prediction</dc:title>
  <dc:subject/>
  <dc:creator/>
  <cp:keywords/>
  <dc:description>generated using python-pptx</dc:description>
  <cp:lastModifiedBy>Nkem</cp:lastModifiedBy>
  <cp:revision>382</cp:revision>
  <dcterms:created xsi:type="dcterms:W3CDTF">2013-01-27T09:14:16Z</dcterms:created>
  <dcterms:modified xsi:type="dcterms:W3CDTF">2026-07-22T15:54:45Z</dcterms:modified>
  <cp:category/>
</cp:coreProperties>
</file>